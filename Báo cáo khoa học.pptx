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Telegraf" charset="1" panose="00000500000000000000"/>
      <p:regular r:id="rId38"/>
    </p:embeddedFont>
    <p:embeddedFont>
      <p:font typeface="Telegraf Bold" charset="1" panose="000008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6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7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4.jpeg" Type="http://schemas.openxmlformats.org/officeDocument/2006/relationships/image"/><Relationship Id="rId4" Target="../media/image6.jpe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media/image27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39.jpeg" Type="http://schemas.openxmlformats.org/officeDocument/2006/relationships/image"/><Relationship Id="rId6" Target="../media/image40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57.png" Type="http://schemas.openxmlformats.org/officeDocument/2006/relationships/image"/><Relationship Id="rId16" Target="../media/image58.svg" Type="http://schemas.openxmlformats.org/officeDocument/2006/relationships/image"/><Relationship Id="rId17" Target="../media/image59.png" Type="http://schemas.openxmlformats.org/officeDocument/2006/relationships/image"/><Relationship Id="rId18" Target="../media/image60.svg" Type="http://schemas.openxmlformats.org/officeDocument/2006/relationships/image"/><Relationship Id="rId19" Target="../media/image61.png" Type="http://schemas.openxmlformats.org/officeDocument/2006/relationships/image"/><Relationship Id="rId2" Target="../media/image7.jpeg" Type="http://schemas.openxmlformats.org/officeDocument/2006/relationships/image"/><Relationship Id="rId20" Target="../media/image62.svg" Type="http://schemas.openxmlformats.org/officeDocument/2006/relationships/image"/><Relationship Id="rId21" Target="../media/image63.png" Type="http://schemas.openxmlformats.org/officeDocument/2006/relationships/image"/><Relationship Id="rId22" Target="../media/image64.svg" Type="http://schemas.openxmlformats.org/officeDocument/2006/relationships/image"/><Relationship Id="rId23" Target="../media/image65.png" Type="http://schemas.openxmlformats.org/officeDocument/2006/relationships/image"/><Relationship Id="rId24" Target="../media/image66.svg" Type="http://schemas.openxmlformats.org/officeDocument/2006/relationships/image"/><Relationship Id="rId25" Target="../media/image67.png" Type="http://schemas.openxmlformats.org/officeDocument/2006/relationships/image"/><Relationship Id="rId26" Target="../media/image68.svg" Type="http://schemas.openxmlformats.org/officeDocument/2006/relationships/image"/><Relationship Id="rId27" Target="../media/image30.png" Type="http://schemas.openxmlformats.org/officeDocument/2006/relationships/image"/><Relationship Id="rId28" Target="../media/image31.svg" Type="http://schemas.openxmlformats.org/officeDocument/2006/relationships/image"/><Relationship Id="rId29" Target="../media/image69.png" Type="http://schemas.openxmlformats.org/officeDocument/2006/relationships/image"/><Relationship Id="rId3" Target="../media/image47.png" Type="http://schemas.openxmlformats.org/officeDocument/2006/relationships/image"/><Relationship Id="rId30" Target="../media/image70.svg" Type="http://schemas.openxmlformats.org/officeDocument/2006/relationships/image"/><Relationship Id="rId31" Target="../media/image71.png" Type="http://schemas.openxmlformats.org/officeDocument/2006/relationships/image"/><Relationship Id="rId32" Target="../media/image72.svg" Type="http://schemas.openxmlformats.org/officeDocument/2006/relationships/image"/><Relationship Id="rId33" Target="../media/image9.png" Type="http://schemas.openxmlformats.org/officeDocument/2006/relationships/image"/><Relationship Id="rId34" Target="../media/image10.svg" Type="http://schemas.openxmlformats.org/officeDocument/2006/relationships/image"/><Relationship Id="rId35" Target="../media/image73.png" Type="http://schemas.openxmlformats.org/officeDocument/2006/relationships/image"/><Relationship Id="rId36" Target="../media/image74.svg" Type="http://schemas.openxmlformats.org/officeDocument/2006/relationships/image"/><Relationship Id="rId37" Target="../media/image75.png" Type="http://schemas.openxmlformats.org/officeDocument/2006/relationships/image"/><Relationship Id="rId38" Target="../media/image76.svg" Type="http://schemas.openxmlformats.org/officeDocument/2006/relationships/image"/><Relationship Id="rId39" Target="../media/image77.png" Type="http://schemas.openxmlformats.org/officeDocument/2006/relationships/image"/><Relationship Id="rId4" Target="../media/image48.svg" Type="http://schemas.openxmlformats.org/officeDocument/2006/relationships/image"/><Relationship Id="rId40" Target="../media/image78.svg" Type="http://schemas.openxmlformats.org/officeDocument/2006/relationships/image"/><Relationship Id="rId41" Target="../media/image79.png" Type="http://schemas.openxmlformats.org/officeDocument/2006/relationships/image"/><Relationship Id="rId42" Target="../media/image80.svg" Type="http://schemas.openxmlformats.org/officeDocument/2006/relationships/image"/><Relationship Id="rId43" Target="../media/image81.png" Type="http://schemas.openxmlformats.org/officeDocument/2006/relationships/image"/><Relationship Id="rId44" Target="../media/image82.svg" Type="http://schemas.openxmlformats.org/officeDocument/2006/relationships/image"/><Relationship Id="rId45" Target="../media/image83.png" Type="http://schemas.openxmlformats.org/officeDocument/2006/relationships/image"/><Relationship Id="rId46" Target="../media/image84.svg" Type="http://schemas.openxmlformats.org/officeDocument/2006/relationships/image"/><Relationship Id="rId47" Target="../media/image85.png" Type="http://schemas.openxmlformats.org/officeDocument/2006/relationships/image"/><Relationship Id="rId48" Target="../media/image86.svg" Type="http://schemas.openxmlformats.org/officeDocument/2006/relationships/image"/><Relationship Id="rId49" Target="../media/image87.png" Type="http://schemas.openxmlformats.org/officeDocument/2006/relationships/image"/><Relationship Id="rId5" Target="../media/image49.png" Type="http://schemas.openxmlformats.org/officeDocument/2006/relationships/image"/><Relationship Id="rId50" Target="../media/image88.svg" Type="http://schemas.openxmlformats.org/officeDocument/2006/relationships/image"/><Relationship Id="rId51" Target="../media/image89.png" Type="http://schemas.openxmlformats.org/officeDocument/2006/relationships/image"/><Relationship Id="rId52" Target="../media/image90.svg" Type="http://schemas.openxmlformats.org/officeDocument/2006/relationships/image"/><Relationship Id="rId53" Target="../media/image91.png" Type="http://schemas.openxmlformats.org/officeDocument/2006/relationships/image"/><Relationship Id="rId54" Target="../media/image92.svg" Type="http://schemas.openxmlformats.org/officeDocument/2006/relationships/image"/><Relationship Id="rId55" Target="../media/image93.png" Type="http://schemas.openxmlformats.org/officeDocument/2006/relationships/image"/><Relationship Id="rId56" Target="../media/image94.svg" Type="http://schemas.openxmlformats.org/officeDocument/2006/relationships/image"/><Relationship Id="rId57" Target="../media/image95.png" Type="http://schemas.openxmlformats.org/officeDocument/2006/relationships/image"/><Relationship Id="rId58" Target="../media/image96.svg" Type="http://schemas.openxmlformats.org/officeDocument/2006/relationships/image"/><Relationship Id="rId59" Target="../media/image97.png" Type="http://schemas.openxmlformats.org/officeDocument/2006/relationships/image"/><Relationship Id="rId6" Target="../media/image50.svg" Type="http://schemas.openxmlformats.org/officeDocument/2006/relationships/image"/><Relationship Id="rId60" Target="../media/image98.svg" Type="http://schemas.openxmlformats.org/officeDocument/2006/relationships/image"/><Relationship Id="rId61" Target="../media/image99.png" Type="http://schemas.openxmlformats.org/officeDocument/2006/relationships/image"/><Relationship Id="rId62" Target="../media/image100.svg" Type="http://schemas.openxmlformats.org/officeDocument/2006/relationships/image"/><Relationship Id="rId63" Target="../media/image101.png" Type="http://schemas.openxmlformats.org/officeDocument/2006/relationships/image"/><Relationship Id="rId64" Target="../media/image102.svg" Type="http://schemas.openxmlformats.org/officeDocument/2006/relationships/image"/><Relationship Id="rId65" Target="../media/image103.png" Type="http://schemas.openxmlformats.org/officeDocument/2006/relationships/image"/><Relationship Id="rId66" Target="../media/image104.svg" Type="http://schemas.openxmlformats.org/officeDocument/2006/relationships/image"/><Relationship Id="rId67" Target="../media/image105.png" Type="http://schemas.openxmlformats.org/officeDocument/2006/relationships/image"/><Relationship Id="rId68" Target="../media/image106.svg" Type="http://schemas.openxmlformats.org/officeDocument/2006/relationships/image"/><Relationship Id="rId69" Target="../media/image32.png" Type="http://schemas.openxmlformats.org/officeDocument/2006/relationships/image"/><Relationship Id="rId7" Target="../media/image51.png" Type="http://schemas.openxmlformats.org/officeDocument/2006/relationships/image"/><Relationship Id="rId70" Target="../media/image33.svg" Type="http://schemas.openxmlformats.org/officeDocument/2006/relationships/image"/><Relationship Id="rId71" Target="../media/image107.png" Type="http://schemas.openxmlformats.org/officeDocument/2006/relationships/image"/><Relationship Id="rId72" Target="../media/image108.svg" Type="http://schemas.openxmlformats.org/officeDocument/2006/relationships/image"/><Relationship Id="rId73" Target="../media/image109.png" Type="http://schemas.openxmlformats.org/officeDocument/2006/relationships/image"/><Relationship Id="rId74" Target="../media/image110.svg" Type="http://schemas.openxmlformats.org/officeDocument/2006/relationships/image"/><Relationship Id="rId75" Target="../media/image28.png" Type="http://schemas.openxmlformats.org/officeDocument/2006/relationships/image"/><Relationship Id="rId76" Target="../media/image29.svg" Type="http://schemas.openxmlformats.org/officeDocument/2006/relationships/image"/><Relationship Id="rId77" Target="../media/image111.png" Type="http://schemas.openxmlformats.org/officeDocument/2006/relationships/image"/><Relationship Id="rId78" Target="../media/image112.svg" Type="http://schemas.openxmlformats.org/officeDocument/2006/relationships/image"/><Relationship Id="rId79" Target="../media/image113.png" Type="http://schemas.openxmlformats.org/officeDocument/2006/relationships/image"/><Relationship Id="rId8" Target="../media/image52.svg" Type="http://schemas.openxmlformats.org/officeDocument/2006/relationships/image"/><Relationship Id="rId80" Target="../media/image114.svg" Type="http://schemas.openxmlformats.org/officeDocument/2006/relationships/image"/><Relationship Id="rId81" Target="../media/image115.png" Type="http://schemas.openxmlformats.org/officeDocument/2006/relationships/image"/><Relationship Id="rId82" Target="../media/image116.svg" Type="http://schemas.openxmlformats.org/officeDocument/2006/relationships/image"/><Relationship Id="rId83" Target="../media/image117.png" Type="http://schemas.openxmlformats.org/officeDocument/2006/relationships/image"/><Relationship Id="rId84" Target="../media/image118.svg" Type="http://schemas.openxmlformats.org/officeDocument/2006/relationships/image"/><Relationship Id="rId85" Target="../media/image119.png" Type="http://schemas.openxmlformats.org/officeDocument/2006/relationships/image"/><Relationship Id="rId86" Target="../media/image120.svg" Type="http://schemas.openxmlformats.org/officeDocument/2006/relationships/image"/><Relationship Id="rId87" Target="../media/image121.png" Type="http://schemas.openxmlformats.org/officeDocument/2006/relationships/image"/><Relationship Id="rId88" Target="../media/image122.svg" Type="http://schemas.openxmlformats.org/officeDocument/2006/relationships/image"/><Relationship Id="rId89" Target="../media/image123.png" Type="http://schemas.openxmlformats.org/officeDocument/2006/relationships/image"/><Relationship Id="rId9" Target="../media/image53.png" Type="http://schemas.openxmlformats.org/officeDocument/2006/relationships/image"/><Relationship Id="rId90" Target="../media/image1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6465" y="879937"/>
            <a:ext cx="7453924" cy="9407063"/>
          </a:xfrm>
          <a:custGeom>
            <a:avLst/>
            <a:gdLst/>
            <a:ahLst/>
            <a:cxnLst/>
            <a:rect r="r" b="b" t="t" l="l"/>
            <a:pathLst>
              <a:path h="9407063" w="7453924">
                <a:moveTo>
                  <a:pt x="0" y="0"/>
                </a:moveTo>
                <a:lnTo>
                  <a:pt x="7453924" y="0"/>
                </a:lnTo>
                <a:lnTo>
                  <a:pt x="7453924" y="9407063"/>
                </a:lnTo>
                <a:lnTo>
                  <a:pt x="0" y="9407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18" t="-3109" r="-1373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42300"/>
            <a:ext cx="8723080" cy="349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2"/>
              </a:lnSpc>
            </a:pPr>
            <a:r>
              <a:rPr lang="en-US" sz="56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Optimizing UAV-Based Delivery Networks via Graph Convolutional Networks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546829"/>
            <a:ext cx="607033" cy="486312"/>
          </a:xfrm>
          <a:custGeom>
            <a:avLst/>
            <a:gdLst/>
            <a:ahLst/>
            <a:cxnLst/>
            <a:rect r="r" b="b" t="t" l="l"/>
            <a:pathLst>
              <a:path h="486312" w="607033">
                <a:moveTo>
                  <a:pt x="0" y="0"/>
                </a:moveTo>
                <a:lnTo>
                  <a:pt x="607033" y="0"/>
                </a:lnTo>
                <a:lnTo>
                  <a:pt x="607033" y="486312"/>
                </a:lnTo>
                <a:lnTo>
                  <a:pt x="0" y="486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6783015"/>
            <a:ext cx="8053372" cy="41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8184" y="2017446"/>
            <a:ext cx="5777796" cy="227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783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Table of Content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76173" y="1482064"/>
            <a:ext cx="8583127" cy="7363298"/>
            <a:chOff x="0" y="0"/>
            <a:chExt cx="1257627" cy="10788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627" cy="1078894"/>
            </a:xfrm>
            <a:custGeom>
              <a:avLst/>
              <a:gdLst/>
              <a:ahLst/>
              <a:cxnLst/>
              <a:rect r="r" b="b" t="t" l="l"/>
              <a:pathLst>
                <a:path h="1078894" w="1257627">
                  <a:moveTo>
                    <a:pt x="35178" y="0"/>
                  </a:moveTo>
                  <a:lnTo>
                    <a:pt x="1222449" y="0"/>
                  </a:lnTo>
                  <a:cubicBezTo>
                    <a:pt x="1231779" y="0"/>
                    <a:pt x="1240726" y="3706"/>
                    <a:pt x="1247323" y="10303"/>
                  </a:cubicBezTo>
                  <a:cubicBezTo>
                    <a:pt x="1253921" y="16900"/>
                    <a:pt x="1257627" y="25848"/>
                    <a:pt x="1257627" y="35178"/>
                  </a:cubicBezTo>
                  <a:lnTo>
                    <a:pt x="1257627" y="1043716"/>
                  </a:lnTo>
                  <a:cubicBezTo>
                    <a:pt x="1257627" y="1053046"/>
                    <a:pt x="1253921" y="1061993"/>
                    <a:pt x="1247323" y="1068590"/>
                  </a:cubicBezTo>
                  <a:cubicBezTo>
                    <a:pt x="1240726" y="1075187"/>
                    <a:pt x="1231779" y="1078894"/>
                    <a:pt x="1222449" y="1078894"/>
                  </a:cubicBezTo>
                  <a:lnTo>
                    <a:pt x="35178" y="1078894"/>
                  </a:lnTo>
                  <a:cubicBezTo>
                    <a:pt x="25848" y="1078894"/>
                    <a:pt x="16900" y="1075187"/>
                    <a:pt x="10303" y="1068590"/>
                  </a:cubicBezTo>
                  <a:cubicBezTo>
                    <a:pt x="3706" y="1061993"/>
                    <a:pt x="0" y="1053046"/>
                    <a:pt x="0" y="1043716"/>
                  </a:cubicBezTo>
                  <a:lnTo>
                    <a:pt x="0" y="35178"/>
                  </a:lnTo>
                  <a:cubicBezTo>
                    <a:pt x="0" y="25848"/>
                    <a:pt x="3706" y="16900"/>
                    <a:pt x="10303" y="10303"/>
                  </a:cubicBezTo>
                  <a:cubicBezTo>
                    <a:pt x="16900" y="3706"/>
                    <a:pt x="25848" y="0"/>
                    <a:pt x="35178" y="0"/>
                  </a:cubicBezTo>
                  <a:close/>
                </a:path>
              </a:pathLst>
            </a:custGeom>
            <a:blipFill>
              <a:blip r:embed="rId3"/>
              <a:stretch>
                <a:fillRect l="-7192" t="0" r="-7192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4655" y="4392202"/>
            <a:ext cx="569605" cy="4453160"/>
            <a:chOff x="0" y="0"/>
            <a:chExt cx="150019" cy="1172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019" cy="1172849"/>
            </a:xfrm>
            <a:custGeom>
              <a:avLst/>
              <a:gdLst/>
              <a:ahLst/>
              <a:cxnLst/>
              <a:rect r="r" b="b" t="t" l="l"/>
              <a:pathLst>
                <a:path h="1172849" w="150019">
                  <a:moveTo>
                    <a:pt x="75010" y="0"/>
                  </a:moveTo>
                  <a:lnTo>
                    <a:pt x="75010" y="0"/>
                  </a:lnTo>
                  <a:cubicBezTo>
                    <a:pt x="94903" y="0"/>
                    <a:pt x="113982" y="7903"/>
                    <a:pt x="128049" y="21970"/>
                  </a:cubicBezTo>
                  <a:cubicBezTo>
                    <a:pt x="142117" y="36037"/>
                    <a:pt x="150019" y="55116"/>
                    <a:pt x="150019" y="75010"/>
                  </a:cubicBezTo>
                  <a:lnTo>
                    <a:pt x="150019" y="1097839"/>
                  </a:lnTo>
                  <a:cubicBezTo>
                    <a:pt x="150019" y="1139266"/>
                    <a:pt x="116436" y="1172849"/>
                    <a:pt x="75010" y="1172849"/>
                  </a:cubicBezTo>
                  <a:lnTo>
                    <a:pt x="75010" y="1172849"/>
                  </a:lnTo>
                  <a:cubicBezTo>
                    <a:pt x="33583" y="1172849"/>
                    <a:pt x="0" y="1139266"/>
                    <a:pt x="0" y="1097839"/>
                  </a:cubicBezTo>
                  <a:lnTo>
                    <a:pt x="0" y="75010"/>
                  </a:lnTo>
                  <a:cubicBezTo>
                    <a:pt x="0" y="33583"/>
                    <a:pt x="33583" y="0"/>
                    <a:pt x="750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50019" cy="1249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1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2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3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4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5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6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7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8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9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10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85535" y="4823231"/>
            <a:ext cx="4666297" cy="390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Motivation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Problem Definition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Dataset Explaination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Graph Convolutional Neural Network?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Graph Definition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Mathematical Formulation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Training Pipeline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Results and Evaluation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Conclusion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References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644062"/>
            <a:ext cx="7354667" cy="387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7"/>
              </a:lnSpc>
            </a:pPr>
            <a:r>
              <a:rPr lang="en-US" sz="2419" spc="10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’s 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conc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se, em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ized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rsi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on:</a:t>
            </a:r>
          </a:p>
          <a:p>
            <a:pPr algn="l" marL="0" indent="0" lvl="0">
              <a:lnSpc>
                <a:spcPts val="3387"/>
              </a:lnSpc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pid ris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UAV-ba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 deliv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er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y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dem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l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li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gen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,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adapt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opt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m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zat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 ha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dle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y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am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c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env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ron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me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dive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u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 met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ods struggle with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scalability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and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real-time decision-making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, motivating the use of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GCNs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for efficient, data-driven UAV coordination.</a:t>
            </a:r>
          </a:p>
          <a:p>
            <a:pPr algn="l" marL="0" indent="0" lvl="0">
              <a:lnSpc>
                <a:spcPts val="338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9309711" y="1028700"/>
            <a:ext cx="8499426" cy="6947584"/>
            <a:chOff x="0" y="0"/>
            <a:chExt cx="2882035" cy="23558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82035" cy="2355827"/>
            </a:xfrm>
            <a:custGeom>
              <a:avLst/>
              <a:gdLst/>
              <a:ahLst/>
              <a:cxnLst/>
              <a:rect r="r" b="b" t="t" l="l"/>
              <a:pathLst>
                <a:path h="2355827" w="2882035">
                  <a:moveTo>
                    <a:pt x="12752" y="0"/>
                  </a:moveTo>
                  <a:lnTo>
                    <a:pt x="2869283" y="0"/>
                  </a:lnTo>
                  <a:cubicBezTo>
                    <a:pt x="2876326" y="0"/>
                    <a:pt x="2882035" y="5709"/>
                    <a:pt x="2882035" y="12752"/>
                  </a:cubicBezTo>
                  <a:lnTo>
                    <a:pt x="2882035" y="2343075"/>
                  </a:lnTo>
                  <a:cubicBezTo>
                    <a:pt x="2882035" y="2350118"/>
                    <a:pt x="2876326" y="2355827"/>
                    <a:pt x="2869283" y="2355827"/>
                  </a:cubicBezTo>
                  <a:lnTo>
                    <a:pt x="12752" y="2355827"/>
                  </a:lnTo>
                  <a:cubicBezTo>
                    <a:pt x="5709" y="2355827"/>
                    <a:pt x="0" y="2350118"/>
                    <a:pt x="0" y="2343075"/>
                  </a:cubicBezTo>
                  <a:lnTo>
                    <a:pt x="0" y="12752"/>
                  </a:lnTo>
                  <a:cubicBezTo>
                    <a:pt x="0" y="5709"/>
                    <a:pt x="5709" y="0"/>
                    <a:pt x="12752" y="0"/>
                  </a:cubicBezTo>
                  <a:close/>
                </a:path>
              </a:pathLst>
            </a:custGeom>
            <a:blipFill>
              <a:blip r:embed="rId3"/>
              <a:stretch>
                <a:fillRect l="-9665" t="0" r="-9665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719481" y="7147971"/>
            <a:ext cx="6727507" cy="2137960"/>
            <a:chOff x="0" y="0"/>
            <a:chExt cx="1637439" cy="520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7439" cy="520368"/>
            </a:xfrm>
            <a:custGeom>
              <a:avLst/>
              <a:gdLst/>
              <a:ahLst/>
              <a:cxnLst/>
              <a:rect r="r" b="b" t="t" l="l"/>
              <a:pathLst>
                <a:path h="520368" w="1637439">
                  <a:moveTo>
                    <a:pt x="16111" y="0"/>
                  </a:moveTo>
                  <a:lnTo>
                    <a:pt x="1621328" y="0"/>
                  </a:lnTo>
                  <a:cubicBezTo>
                    <a:pt x="1630226" y="0"/>
                    <a:pt x="1637439" y="7213"/>
                    <a:pt x="1637439" y="16111"/>
                  </a:cubicBezTo>
                  <a:lnTo>
                    <a:pt x="1637439" y="504257"/>
                  </a:lnTo>
                  <a:cubicBezTo>
                    <a:pt x="1637439" y="513155"/>
                    <a:pt x="1630226" y="520368"/>
                    <a:pt x="1621328" y="520368"/>
                  </a:cubicBezTo>
                  <a:lnTo>
                    <a:pt x="16111" y="520368"/>
                  </a:lnTo>
                  <a:cubicBezTo>
                    <a:pt x="7213" y="520368"/>
                    <a:pt x="0" y="513155"/>
                    <a:pt x="0" y="504257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637439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941354" y="7447858"/>
            <a:ext cx="1539914" cy="1551196"/>
          </a:xfrm>
          <a:custGeom>
            <a:avLst/>
            <a:gdLst/>
            <a:ahLst/>
            <a:cxnLst/>
            <a:rect r="r" b="b" t="t" l="l"/>
            <a:pathLst>
              <a:path h="1551196" w="1539914">
                <a:moveTo>
                  <a:pt x="0" y="0"/>
                </a:moveTo>
                <a:lnTo>
                  <a:pt x="1539914" y="0"/>
                </a:lnTo>
                <a:lnTo>
                  <a:pt x="1539914" y="1551196"/>
                </a:lnTo>
                <a:lnTo>
                  <a:pt x="0" y="155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294408"/>
            <a:ext cx="8053372" cy="111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  <a:r>
              <a:rPr lang="en-US" sz="64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Motivation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37703" y="7390708"/>
            <a:ext cx="4120658" cy="154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45"/>
              </a:lnSpc>
            </a:pPr>
            <a:r>
              <a:rPr lang="en-US" sz="1746" spc="7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9125" y="2473781"/>
            <a:ext cx="17024650" cy="7252792"/>
            <a:chOff x="0" y="0"/>
            <a:chExt cx="4483858" cy="191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3858" cy="1910200"/>
            </a:xfrm>
            <a:custGeom>
              <a:avLst/>
              <a:gdLst/>
              <a:ahLst/>
              <a:cxnLst/>
              <a:rect r="r" b="b" t="t" l="l"/>
              <a:pathLst>
                <a:path h="1910200" w="4483858">
                  <a:moveTo>
                    <a:pt x="0" y="0"/>
                  </a:moveTo>
                  <a:lnTo>
                    <a:pt x="4483858" y="0"/>
                  </a:lnTo>
                  <a:lnTo>
                    <a:pt x="4483858" y="1910200"/>
                  </a:lnTo>
                  <a:lnTo>
                    <a:pt x="0" y="1910200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483858" cy="198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50869" y="3259772"/>
            <a:ext cx="978626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Prolem Definition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9843" y="4448665"/>
            <a:ext cx="10628314" cy="458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</a:p>
          <a:p>
            <a:pPr algn="ctr" marL="466339" indent="-233170" lvl="1">
              <a:lnSpc>
                <a:spcPts val="3023"/>
              </a:lnSpc>
              <a:buFont typeface="Arial"/>
              <a:buChar char="•"/>
            </a:pPr>
            <a:r>
              <a:rPr lang="en-US" sz="2159" spc="9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Mult</a:t>
            </a: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iple UAVs deliver supplies from distributed depots to geograp</a:t>
            </a: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ically scattered user clusters.</a:t>
            </a:r>
          </a:p>
          <a:p>
            <a:pPr algn="ctr" marL="466339" indent="-233170" lvl="1">
              <a:lnSpc>
                <a:spcPts val="3023"/>
              </a:lnSpc>
              <a:buFont typeface="Arial"/>
              <a:buChar char="•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cluster has unique demand profiles: item types, quantities, and priority scores.</a:t>
            </a:r>
          </a:p>
          <a:p>
            <a:pPr algn="ctr" marL="466339" indent="-233170" lvl="1">
              <a:lnSpc>
                <a:spcPts val="3023"/>
              </a:lnSpc>
              <a:buFont typeface="Arial"/>
              <a:buChar char="•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</a:t>
            </a: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UAV has limited payload, battery, and range.</a:t>
            </a:r>
          </a:p>
          <a:p>
            <a:pPr algn="ctr" marL="466339" indent="-233170" lvl="1">
              <a:lnSpc>
                <a:spcPts val="3023"/>
              </a:lnSpc>
              <a:buFont typeface="Arial"/>
              <a:buChar char="•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Objectives:</a:t>
            </a:r>
          </a:p>
          <a:p>
            <a:pPr algn="ctr" marL="932678" indent="-310893" lvl="2">
              <a:lnSpc>
                <a:spcPts val="3023"/>
              </a:lnSpc>
              <a:buFont typeface="Arial"/>
              <a:buChar char="⚬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Maximize total user satisfaction (fulfilled demand × priority).</a:t>
            </a:r>
          </a:p>
          <a:p>
            <a:pPr algn="ctr" marL="932678" indent="-310893" lvl="2">
              <a:lnSpc>
                <a:spcPts val="3023"/>
              </a:lnSpc>
              <a:buFont typeface="Arial"/>
              <a:buChar char="⚬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Minimize total flight distance and energy consumption.</a:t>
            </a:r>
          </a:p>
          <a:p>
            <a:pPr algn="ctr" marL="466339" indent="-233170" lvl="1">
              <a:lnSpc>
                <a:spcPts val="3023"/>
              </a:lnSpc>
              <a:buFont typeface="Arial"/>
              <a:buChar char="•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Constraints:</a:t>
            </a:r>
          </a:p>
          <a:p>
            <a:pPr algn="ctr" marL="932678" indent="-310893" lvl="2">
              <a:lnSpc>
                <a:spcPts val="3023"/>
              </a:lnSpc>
              <a:buFont typeface="Arial"/>
              <a:buChar char="⚬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Capacity and time limits per UAV.</a:t>
            </a:r>
          </a:p>
          <a:p>
            <a:pPr algn="ctr" marL="932678" indent="-310893" lvl="2">
              <a:lnSpc>
                <a:spcPts val="3023"/>
              </a:lnSpc>
              <a:buFont typeface="Arial"/>
              <a:buChar char="⚬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Every cluster must be served by at least one UAV.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54410" y="3670993"/>
            <a:ext cx="4904890" cy="3015359"/>
            <a:chOff x="0" y="0"/>
            <a:chExt cx="1663179" cy="10224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677" r="0" b="-967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711949" y="3670993"/>
            <a:ext cx="4904890" cy="3015359"/>
            <a:chOff x="0" y="0"/>
            <a:chExt cx="1663179" cy="10224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4"/>
              <a:stretch>
                <a:fillRect l="-4889" t="0" r="-4889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64963" y="3670993"/>
            <a:ext cx="4904890" cy="3015359"/>
            <a:chOff x="0" y="0"/>
            <a:chExt cx="1663179" cy="10224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5"/>
              <a:stretch>
                <a:fillRect l="-6065" t="0" r="-6065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595987" y="6386464"/>
            <a:ext cx="4421737" cy="2137960"/>
            <a:chOff x="0" y="0"/>
            <a:chExt cx="1076227" cy="520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53525" y="6386464"/>
            <a:ext cx="4421737" cy="2137960"/>
            <a:chOff x="0" y="0"/>
            <a:chExt cx="1076227" cy="520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6539" y="6386464"/>
            <a:ext cx="4421737" cy="2137960"/>
            <a:chOff x="0" y="0"/>
            <a:chExt cx="1076227" cy="520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375865" y="1917083"/>
            <a:ext cx="9536271" cy="98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575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Dataset Explaination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88071" y="6591101"/>
            <a:ext cx="4037568" cy="51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5"/>
              </a:lnSpc>
            </a:pPr>
            <a:r>
              <a:rPr lang="en-US" sz="2746" spc="1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746" spc="11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46" spc="11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746" spc="11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ster </a:t>
            </a:r>
            <a:r>
              <a:rPr lang="en-US" sz="2746" spc="11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No</a:t>
            </a:r>
            <a:r>
              <a:rPr lang="en-US" sz="2746" spc="11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 </a:t>
            </a:r>
            <a:r>
              <a:rPr lang="en-US" sz="2746" spc="11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746" spc="11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eatures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45610" y="6581576"/>
            <a:ext cx="4037568" cy="57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05"/>
              </a:lnSpc>
            </a:pPr>
            <a:r>
              <a:rPr lang="en-US" sz="3146" spc="1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UAV</a:t>
            </a:r>
            <a:r>
              <a:rPr lang="en-US" sz="3146" spc="1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146" spc="1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3146" spc="1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ode </a:t>
            </a:r>
            <a:r>
              <a:rPr lang="en-US" sz="3146" spc="1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3146" spc="1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8624" y="6581576"/>
            <a:ext cx="4037568" cy="61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85"/>
              </a:lnSpc>
            </a:pPr>
            <a:r>
              <a:rPr lang="en-US" sz="3346" spc="14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3346" spc="14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ataset </a:t>
            </a:r>
            <a:r>
              <a:rPr lang="en-US" sz="3346" spc="14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Ov</a:t>
            </a:r>
            <a:r>
              <a:rPr lang="en-US" sz="3346" spc="14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ervie</a:t>
            </a:r>
            <a:r>
              <a:rPr lang="en-US" sz="3346" spc="14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1675" y="2367097"/>
            <a:ext cx="17024650" cy="7252792"/>
            <a:chOff x="0" y="0"/>
            <a:chExt cx="4483858" cy="191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3858" cy="1910200"/>
            </a:xfrm>
            <a:custGeom>
              <a:avLst/>
              <a:gdLst/>
              <a:ahLst/>
              <a:cxnLst/>
              <a:rect r="r" b="b" t="t" l="l"/>
              <a:pathLst>
                <a:path h="1910200" w="4483858">
                  <a:moveTo>
                    <a:pt x="0" y="0"/>
                  </a:moveTo>
                  <a:lnTo>
                    <a:pt x="4483858" y="0"/>
                  </a:lnTo>
                  <a:lnTo>
                    <a:pt x="4483858" y="1910200"/>
                  </a:lnTo>
                  <a:lnTo>
                    <a:pt x="0" y="1910200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483858" cy="198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50869" y="3237262"/>
            <a:ext cx="978626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8959" y="4420090"/>
            <a:ext cx="14590081" cy="3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dataset simulates a</a:t>
            </a:r>
            <a:r>
              <a:rPr lang="en-US" sz="2859" spc="120">
                <a:solidFill>
                  <a:srgbClr val="FFDE59"/>
                </a:solidFill>
                <a:latin typeface="Telegraf"/>
                <a:ea typeface="Telegraf"/>
                <a:cs typeface="Telegraf"/>
                <a:sym typeface="Telegraf"/>
              </a:rPr>
              <a:t> UAV delivery network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Includes:</a:t>
            </a:r>
          </a:p>
          <a:p>
            <a:pPr algn="l" marL="1234931" indent="-411644" lvl="2">
              <a:lnSpc>
                <a:spcPts val="4003"/>
              </a:lnSpc>
              <a:buAutoNum type="alphaLcPeriod" startAt="1"/>
            </a:pPr>
            <a:r>
              <a:rPr lang="en-US" sz="2859" spc="120">
                <a:solidFill>
                  <a:srgbClr val="FFDE59"/>
                </a:solidFill>
                <a:latin typeface="Telegraf"/>
                <a:ea typeface="Telegraf"/>
                <a:cs typeface="Telegraf"/>
                <a:sym typeface="Telegraf"/>
              </a:rPr>
              <a:t>M UAVs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positioned at depots</a:t>
            </a:r>
          </a:p>
          <a:p>
            <a:pPr algn="l" marL="1234931" indent="-411644" lvl="2">
              <a:lnSpc>
                <a:spcPts val="4003"/>
              </a:lnSpc>
              <a:buAutoNum type="alphaLcPeriod" startAt="1"/>
            </a:pPr>
            <a:r>
              <a:rPr lang="en-US" sz="2859" spc="120">
                <a:solidFill>
                  <a:srgbClr val="FFDE59"/>
                </a:solidFill>
                <a:latin typeface="Telegraf"/>
                <a:ea typeface="Telegraf"/>
                <a:cs typeface="Telegraf"/>
                <a:sym typeface="Telegraf"/>
              </a:rPr>
              <a:t>C clusters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representing user groups</a:t>
            </a:r>
          </a:p>
          <a:p>
            <a:pPr algn="l" marL="1234931" indent="-411644" lvl="2">
              <a:lnSpc>
                <a:spcPts val="4003"/>
              </a:lnSpc>
              <a:buAutoNum type="alphaLcPeriod" startAt="1"/>
            </a:pPr>
            <a:r>
              <a:rPr lang="en-US" sz="2859" spc="120">
                <a:solidFill>
                  <a:srgbClr val="FFDE59"/>
                </a:solidFill>
                <a:latin typeface="Telegraf"/>
                <a:ea typeface="Telegraf"/>
                <a:cs typeface="Telegraf"/>
                <a:sym typeface="Telegraf"/>
              </a:rPr>
              <a:t>N item types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with defined weights and priorities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Purpose: model spatial and demand-based relations for GCN learning.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1675" y="2367097"/>
            <a:ext cx="17024650" cy="7252792"/>
            <a:chOff x="0" y="0"/>
            <a:chExt cx="4483858" cy="191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3858" cy="1910200"/>
            </a:xfrm>
            <a:custGeom>
              <a:avLst/>
              <a:gdLst/>
              <a:ahLst/>
              <a:cxnLst/>
              <a:rect r="r" b="b" t="t" l="l"/>
              <a:pathLst>
                <a:path h="1910200" w="4483858">
                  <a:moveTo>
                    <a:pt x="0" y="0"/>
                  </a:moveTo>
                  <a:lnTo>
                    <a:pt x="4483858" y="0"/>
                  </a:lnTo>
                  <a:lnTo>
                    <a:pt x="4483858" y="1910200"/>
                  </a:lnTo>
                  <a:lnTo>
                    <a:pt x="0" y="1910200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483858" cy="198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50869" y="3237262"/>
            <a:ext cx="978626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UAV Node Representation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3899" y="4667700"/>
            <a:ext cx="14590081" cy="3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UAV umu_mum​ represented as feature vector: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x_{u_m} = [x_m, y_m, z_m, w_m, 0, 0]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Features include: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3D coordinates (x_m,y_m,z_m)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Payload capacity w_m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Purpose: encode </a:t>
            </a:r>
            <a:r>
              <a:rPr lang="en-US" sz="2859" spc="120">
                <a:solidFill>
                  <a:srgbClr val="FFDE59"/>
                </a:solidFill>
                <a:latin typeface="Telegraf"/>
                <a:ea typeface="Telegraf"/>
                <a:cs typeface="Telegraf"/>
                <a:sym typeface="Telegraf"/>
              </a:rPr>
              <a:t>location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and </a:t>
            </a:r>
            <a:r>
              <a:rPr lang="en-US" sz="2859" spc="120">
                <a:solidFill>
                  <a:srgbClr val="FFDE59"/>
                </a:solidFill>
                <a:latin typeface="Telegraf"/>
                <a:ea typeface="Telegraf"/>
                <a:cs typeface="Telegraf"/>
                <a:sym typeface="Telegraf"/>
              </a:rPr>
              <a:t>delivery capability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1675" y="2367097"/>
            <a:ext cx="17024650" cy="7252792"/>
            <a:chOff x="0" y="0"/>
            <a:chExt cx="4483858" cy="191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3858" cy="1910200"/>
            </a:xfrm>
            <a:custGeom>
              <a:avLst/>
              <a:gdLst/>
              <a:ahLst/>
              <a:cxnLst/>
              <a:rect r="r" b="b" t="t" l="l"/>
              <a:pathLst>
                <a:path h="1910200" w="4483858">
                  <a:moveTo>
                    <a:pt x="0" y="0"/>
                  </a:moveTo>
                  <a:lnTo>
                    <a:pt x="4483858" y="0"/>
                  </a:lnTo>
                  <a:lnTo>
                    <a:pt x="4483858" y="1910200"/>
                  </a:lnTo>
                  <a:lnTo>
                    <a:pt x="0" y="1910200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483858" cy="198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50869" y="3237262"/>
            <a:ext cx="978626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Cluster Node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669" y="4802760"/>
            <a:ext cx="14590081" cy="355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user cluster c_i encoded as: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x_c_i = [x_i , y_i ,0 , 0 ,n]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Features include: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L</a:t>
            </a: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ocation (x_i, y_i)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c</a:t>
            </a: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ount C_i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Requested item type n_i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Capt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ures </a:t>
            </a: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demand diversity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and </a:t>
            </a: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geographic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1675" y="2367097"/>
            <a:ext cx="17024650" cy="7252792"/>
            <a:chOff x="0" y="0"/>
            <a:chExt cx="4483858" cy="191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3858" cy="1910200"/>
            </a:xfrm>
            <a:custGeom>
              <a:avLst/>
              <a:gdLst/>
              <a:ahLst/>
              <a:cxnLst/>
              <a:rect r="r" b="b" t="t" l="l"/>
              <a:pathLst>
                <a:path h="1910200" w="4483858">
                  <a:moveTo>
                    <a:pt x="0" y="0"/>
                  </a:moveTo>
                  <a:lnTo>
                    <a:pt x="4483858" y="0"/>
                  </a:lnTo>
                  <a:lnTo>
                    <a:pt x="4483858" y="1910200"/>
                  </a:lnTo>
                  <a:lnTo>
                    <a:pt x="0" y="1910200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483858" cy="198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15408" y="3192242"/>
            <a:ext cx="11857185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Edge Features (UAV → Cluster)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8959" y="4359392"/>
            <a:ext cx="14590081" cy="406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edge (u_m, c_i) stores spatial &amp; demand attributes: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d_{mi}: Eu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lide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distance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_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{m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} =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_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{m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}/v: trav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ime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ω_{mi} =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C_i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w_{n_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}​​: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otal w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ight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u_{mi}​: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impor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anc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score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Final feat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ure vector:</a:t>
            </a:r>
          </a:p>
          <a:p>
            <a:pPr algn="l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_{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i}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= [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_{m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}, t_{mi}, ω_{mi}, u_{mi}]</a:t>
            </a:r>
          </a:p>
          <a:p>
            <a:pPr algn="l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Links UAV c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ap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ab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lity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 </a:t>
            </a: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delivery demand intensity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1675" y="2367097"/>
            <a:ext cx="17024650" cy="7252792"/>
            <a:chOff x="0" y="0"/>
            <a:chExt cx="4483858" cy="191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3858" cy="1910200"/>
            </a:xfrm>
            <a:custGeom>
              <a:avLst/>
              <a:gdLst/>
              <a:ahLst/>
              <a:cxnLst/>
              <a:rect r="r" b="b" t="t" l="l"/>
              <a:pathLst>
                <a:path h="1910200" w="4483858">
                  <a:moveTo>
                    <a:pt x="0" y="0"/>
                  </a:moveTo>
                  <a:lnTo>
                    <a:pt x="4483858" y="0"/>
                  </a:lnTo>
                  <a:lnTo>
                    <a:pt x="4483858" y="1910200"/>
                  </a:lnTo>
                  <a:lnTo>
                    <a:pt x="0" y="1910200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483858" cy="198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75167" y="3192242"/>
            <a:ext cx="12937667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Purpose of Graph Representation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8959" y="4494452"/>
            <a:ext cx="14590081" cy="355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Construct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ed graph G = (V, E):</a:t>
            </a:r>
          </a:p>
          <a:p>
            <a:pPr algn="just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Nodes = UAVs + clusters</a:t>
            </a:r>
          </a:p>
          <a:p>
            <a:pPr algn="just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dges =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po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tent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ial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del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very links</a:t>
            </a:r>
          </a:p>
          <a:p>
            <a:pPr algn="just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Enab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GCN to learn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</a:p>
          <a:p>
            <a:pPr algn="just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UAV–cl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ter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compatib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ility</a:t>
            </a:r>
          </a:p>
          <a:p>
            <a:pPr algn="just" marL="1234931" indent="-411644" lvl="2">
              <a:lnSpc>
                <a:spcPts val="4003"/>
              </a:lnSpc>
              <a:buFont typeface="Arial"/>
              <a:buChar char="⚬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rade-off betw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een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dis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tance &amp; demand</a:t>
            </a:r>
          </a:p>
          <a:p>
            <a:pPr algn="just" marL="617465" indent="-308733" lvl="1">
              <a:lnSpc>
                <a:spcPts val="4003"/>
              </a:lnSpc>
              <a:buFont typeface="Arial"/>
              <a:buChar char="•"/>
            </a:pP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Data-dr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iven 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rnat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ive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to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859" spc="120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manual routing heuristics</a:t>
            </a:r>
            <a:r>
              <a:rPr lang="en-US" sz="2859" spc="1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3596" y="313393"/>
            <a:ext cx="17501882" cy="5940392"/>
            <a:chOff x="0" y="0"/>
            <a:chExt cx="2564431" cy="870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4431" cy="870405"/>
            </a:xfrm>
            <a:custGeom>
              <a:avLst/>
              <a:gdLst/>
              <a:ahLst/>
              <a:cxnLst/>
              <a:rect r="r" b="b" t="t" l="l"/>
              <a:pathLst>
                <a:path h="870405" w="2564431">
                  <a:moveTo>
                    <a:pt x="17252" y="0"/>
                  </a:moveTo>
                  <a:lnTo>
                    <a:pt x="2547179" y="0"/>
                  </a:lnTo>
                  <a:cubicBezTo>
                    <a:pt x="2551755" y="0"/>
                    <a:pt x="2556143" y="1818"/>
                    <a:pt x="2559378" y="5053"/>
                  </a:cubicBezTo>
                  <a:cubicBezTo>
                    <a:pt x="2562613" y="8288"/>
                    <a:pt x="2564431" y="12676"/>
                    <a:pt x="2564431" y="17252"/>
                  </a:cubicBezTo>
                  <a:lnTo>
                    <a:pt x="2564431" y="853153"/>
                  </a:lnTo>
                  <a:cubicBezTo>
                    <a:pt x="2564431" y="857729"/>
                    <a:pt x="2562613" y="862117"/>
                    <a:pt x="2559378" y="865352"/>
                  </a:cubicBezTo>
                  <a:cubicBezTo>
                    <a:pt x="2556143" y="868587"/>
                    <a:pt x="2551755" y="870405"/>
                    <a:pt x="2547179" y="870405"/>
                  </a:cubicBezTo>
                  <a:lnTo>
                    <a:pt x="17252" y="870405"/>
                  </a:lnTo>
                  <a:cubicBezTo>
                    <a:pt x="12676" y="870405"/>
                    <a:pt x="8288" y="868587"/>
                    <a:pt x="5053" y="865352"/>
                  </a:cubicBezTo>
                  <a:cubicBezTo>
                    <a:pt x="1818" y="862117"/>
                    <a:pt x="0" y="857729"/>
                    <a:pt x="0" y="853153"/>
                  </a:cubicBezTo>
                  <a:lnTo>
                    <a:pt x="0" y="17252"/>
                  </a:lnTo>
                  <a:cubicBezTo>
                    <a:pt x="0" y="12676"/>
                    <a:pt x="1818" y="8288"/>
                    <a:pt x="5053" y="5053"/>
                  </a:cubicBezTo>
                  <a:cubicBezTo>
                    <a:pt x="8288" y="1818"/>
                    <a:pt x="12676" y="0"/>
                    <a:pt x="1725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146" r="0" b="-4814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203377" y="6617728"/>
            <a:ext cx="16055923" cy="90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2"/>
              </a:lnSpc>
            </a:pPr>
            <a:r>
              <a:rPr lang="en-US" sz="529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What is a Graph Convolutional Network (GCN)?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3377" y="7569881"/>
            <a:ext cx="7499907" cy="2110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254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GCN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ex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tradi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CNN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non-E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uclid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ea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g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aph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da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a.</a:t>
            </a:r>
          </a:p>
          <a:p>
            <a:pPr algn="just" marL="518254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nod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ag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grega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tur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fro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it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ei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ghbor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,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ghted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by g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aph conn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vity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0" indent="0" lvl="0">
              <a:lnSpc>
                <a:spcPts val="33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25833" y="7553833"/>
            <a:ext cx="7499907" cy="2110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254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Enabl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l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ea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ng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la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ons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h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ips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 st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ruc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ured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works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su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as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UAV–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aph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518254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Key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benef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ures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p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ati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al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an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ema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nd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corr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el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at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on</a:t>
            </a:r>
            <a:r>
              <a:rPr lang="en-US" b="true" sz="2400" spc="100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beyond f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xed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09711" y="1028700"/>
            <a:ext cx="8499426" cy="6947584"/>
            <a:chOff x="0" y="0"/>
            <a:chExt cx="2882035" cy="2355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82035" cy="2355827"/>
            </a:xfrm>
            <a:custGeom>
              <a:avLst/>
              <a:gdLst/>
              <a:ahLst/>
              <a:cxnLst/>
              <a:rect r="r" b="b" t="t" l="l"/>
              <a:pathLst>
                <a:path h="2355827" w="2882035">
                  <a:moveTo>
                    <a:pt x="12752" y="0"/>
                  </a:moveTo>
                  <a:lnTo>
                    <a:pt x="2869283" y="0"/>
                  </a:lnTo>
                  <a:cubicBezTo>
                    <a:pt x="2876326" y="0"/>
                    <a:pt x="2882035" y="5709"/>
                    <a:pt x="2882035" y="12752"/>
                  </a:cubicBezTo>
                  <a:lnTo>
                    <a:pt x="2882035" y="2343075"/>
                  </a:lnTo>
                  <a:cubicBezTo>
                    <a:pt x="2882035" y="2350118"/>
                    <a:pt x="2876326" y="2355827"/>
                    <a:pt x="2869283" y="2355827"/>
                  </a:cubicBezTo>
                  <a:lnTo>
                    <a:pt x="12752" y="2355827"/>
                  </a:lnTo>
                  <a:cubicBezTo>
                    <a:pt x="5709" y="2355827"/>
                    <a:pt x="0" y="2350118"/>
                    <a:pt x="0" y="2343075"/>
                  </a:cubicBezTo>
                  <a:lnTo>
                    <a:pt x="0" y="12752"/>
                  </a:lnTo>
                  <a:cubicBezTo>
                    <a:pt x="0" y="5709"/>
                    <a:pt x="5709" y="0"/>
                    <a:pt x="12752" y="0"/>
                  </a:cubicBezTo>
                  <a:close/>
                </a:path>
              </a:pathLst>
            </a:custGeom>
            <a:blipFill>
              <a:blip r:embed="rId3"/>
              <a:stretch>
                <a:fillRect l="-30139" t="0" r="-30139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789467" y="8223456"/>
            <a:ext cx="1539914" cy="1551196"/>
          </a:xfrm>
          <a:custGeom>
            <a:avLst/>
            <a:gdLst/>
            <a:ahLst/>
            <a:cxnLst/>
            <a:rect r="r" b="b" t="t" l="l"/>
            <a:pathLst>
              <a:path h="1551196" w="1539914">
                <a:moveTo>
                  <a:pt x="0" y="0"/>
                </a:moveTo>
                <a:lnTo>
                  <a:pt x="1539914" y="0"/>
                </a:lnTo>
                <a:lnTo>
                  <a:pt x="1539914" y="1551196"/>
                </a:lnTo>
                <a:lnTo>
                  <a:pt x="0" y="155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414262"/>
            <a:ext cx="7354667" cy="687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-lay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GCN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ol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by li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out:</a:t>
            </a:r>
          </a:p>
          <a:p>
            <a:pPr algn="l" marL="1044853" indent="-348284" lvl="2">
              <a:lnSpc>
                <a:spcPts val="3387"/>
              </a:lnSpc>
              <a:buFont typeface="Arial"/>
              <a:buChar char="⚬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H(1)=σ(A^XW(1)),H(2)=σ(A^H(1)W(2))H^{(1)} = \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sig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ma(\h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{A} X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W^{(1)}),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\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quad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H^{(2)}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= \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a(\h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{A}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H^{(1)}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W^{(2)})H(1)=σ(A^XW(1)),H(2)=σ(A^H(1)W(2))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Ou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tpu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t:</a:t>
            </a:r>
          </a:p>
          <a:p>
            <a:pPr algn="l" marL="1044853" indent="-348284" lvl="2">
              <a:lnSpc>
                <a:spcPts val="3387"/>
              </a:lnSpc>
              <a:buFont typeface="Arial"/>
              <a:buChar char="⚬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Y^m=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gmo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d(Zu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)\h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t{Y}_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= \t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x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{s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moid}(Z_{u_m})Y^m​=sigmoid(Zum​​)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UAV node predicts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assignment probability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over clusters.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Uses normalized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adjacency matrix A^\hat{A}A^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with self-loops for stable propagatio</a:t>
            </a:r>
          </a:p>
          <a:p>
            <a:pPr algn="l" marL="0" indent="0" lvl="0">
              <a:lnSpc>
                <a:spcPts val="338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88038" y="885825"/>
            <a:ext cx="8053372" cy="217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  <a:r>
              <a:rPr lang="en-US" sz="64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GCN Architecture Overview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09711" y="1028700"/>
            <a:ext cx="8499426" cy="6947584"/>
            <a:chOff x="0" y="0"/>
            <a:chExt cx="2882035" cy="2355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82035" cy="2355827"/>
            </a:xfrm>
            <a:custGeom>
              <a:avLst/>
              <a:gdLst/>
              <a:ahLst/>
              <a:cxnLst/>
              <a:rect r="r" b="b" t="t" l="l"/>
              <a:pathLst>
                <a:path h="2355827" w="2882035">
                  <a:moveTo>
                    <a:pt x="12752" y="0"/>
                  </a:moveTo>
                  <a:lnTo>
                    <a:pt x="2869283" y="0"/>
                  </a:lnTo>
                  <a:cubicBezTo>
                    <a:pt x="2876326" y="0"/>
                    <a:pt x="2882035" y="5709"/>
                    <a:pt x="2882035" y="12752"/>
                  </a:cubicBezTo>
                  <a:lnTo>
                    <a:pt x="2882035" y="2343075"/>
                  </a:lnTo>
                  <a:cubicBezTo>
                    <a:pt x="2882035" y="2350118"/>
                    <a:pt x="2876326" y="2355827"/>
                    <a:pt x="2869283" y="2355827"/>
                  </a:cubicBezTo>
                  <a:lnTo>
                    <a:pt x="12752" y="2355827"/>
                  </a:lnTo>
                  <a:cubicBezTo>
                    <a:pt x="5709" y="2355827"/>
                    <a:pt x="0" y="2350118"/>
                    <a:pt x="0" y="2343075"/>
                  </a:cubicBezTo>
                  <a:lnTo>
                    <a:pt x="0" y="12752"/>
                  </a:lnTo>
                  <a:cubicBezTo>
                    <a:pt x="0" y="5709"/>
                    <a:pt x="5709" y="0"/>
                    <a:pt x="12752" y="0"/>
                  </a:cubicBezTo>
                  <a:close/>
                </a:path>
              </a:pathLst>
            </a:custGeom>
            <a:blipFill>
              <a:blip r:embed="rId3"/>
              <a:stretch>
                <a:fillRect l="-5512" t="0" r="-5512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789467" y="8223456"/>
            <a:ext cx="1539914" cy="1551196"/>
          </a:xfrm>
          <a:custGeom>
            <a:avLst/>
            <a:gdLst/>
            <a:ahLst/>
            <a:cxnLst/>
            <a:rect r="r" b="b" t="t" l="l"/>
            <a:pathLst>
              <a:path h="1551196" w="1539914">
                <a:moveTo>
                  <a:pt x="0" y="0"/>
                </a:moveTo>
                <a:lnTo>
                  <a:pt x="1539914" y="0"/>
                </a:lnTo>
                <a:lnTo>
                  <a:pt x="1539914" y="1551196"/>
                </a:lnTo>
                <a:lnTo>
                  <a:pt x="0" y="155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330539"/>
            <a:ext cx="7354667" cy="601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Objective: c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ssif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UAV to its optimal cl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uster.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oss: cross-entropy b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etween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pred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ed 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grou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nd-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ruth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signm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ents.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Op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timizer: Adam, learning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r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ate 10−31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0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^{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-3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}1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0−3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,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00 epochs.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tivat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igmoid → smoother convergence than ReLU.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Inference: each UAV selects cluster with</a:t>
            </a:r>
          </a:p>
          <a:p>
            <a:pPr algn="l" marL="1044853" indent="-348284" lvl="2">
              <a:lnSpc>
                <a:spcPts val="3387"/>
              </a:lnSpc>
              <a:buFont typeface="Arial"/>
              <a:buChar char="⚬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rg⁡max⁡iY^m[i]\arg\max_i \hat{Y}_m[i]argimax​Y^m​[i]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Achieves </a:t>
            </a:r>
            <a:r>
              <a:rPr lang="en-US" b="true" sz="2419" spc="101" strike="noStrike" u="none">
                <a:solidFill>
                  <a:srgbClr val="FFDE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scalable, data-driven UAV–cluster allocation.</a:t>
            </a:r>
          </a:p>
          <a:p>
            <a:pPr algn="l" marL="0" indent="0" lvl="0">
              <a:lnSpc>
                <a:spcPts val="338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88038" y="885825"/>
            <a:ext cx="8053372" cy="217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  <a:r>
              <a:rPr lang="en-US" sz="64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Training &amp; Inference Process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54410" y="3670993"/>
            <a:ext cx="4904890" cy="3015359"/>
            <a:chOff x="0" y="0"/>
            <a:chExt cx="1663179" cy="10224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1331" r="0" b="-3133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711949" y="3670993"/>
            <a:ext cx="4904890" cy="3015359"/>
            <a:chOff x="0" y="0"/>
            <a:chExt cx="1663179" cy="10224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4"/>
              <a:stretch>
                <a:fillRect l="-1552" t="0" r="-155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64963" y="3670993"/>
            <a:ext cx="4904890" cy="3015359"/>
            <a:chOff x="0" y="0"/>
            <a:chExt cx="1663179" cy="10224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97" r="0" b="-1679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595987" y="6386464"/>
            <a:ext cx="4421737" cy="2137960"/>
            <a:chOff x="0" y="0"/>
            <a:chExt cx="1076227" cy="520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53525" y="6386464"/>
            <a:ext cx="4421737" cy="2137960"/>
            <a:chOff x="0" y="0"/>
            <a:chExt cx="1076227" cy="520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6539" y="6386464"/>
            <a:ext cx="4421737" cy="2137960"/>
            <a:chOff x="0" y="0"/>
            <a:chExt cx="1076227" cy="520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375865" y="1917083"/>
            <a:ext cx="9536271" cy="98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575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Result and Evaluation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88071" y="6610151"/>
            <a:ext cx="4037568" cy="83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85"/>
              </a:lnSpc>
            </a:pPr>
            <a:r>
              <a:rPr lang="en-US" sz="2346" spc="9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GCN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esu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ts 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–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mm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&amp;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nsi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gh</a:t>
            </a:r>
            <a:r>
              <a:rPr lang="en-US" sz="2346" spc="9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45610" y="6600626"/>
            <a:ext cx="4037568" cy="95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05"/>
              </a:lnSpc>
            </a:pPr>
            <a:r>
              <a:rPr lang="en-US" sz="2646" spc="11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mpa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 o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unt 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Conv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46" spc="11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8624" y="6591101"/>
            <a:ext cx="4037568" cy="159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25"/>
              </a:lnSpc>
            </a:pPr>
            <a:r>
              <a:rPr lang="en-US" sz="2946" spc="1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ra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ning 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rman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 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GCN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Mod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946" spc="12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09711" y="1028700"/>
            <a:ext cx="8499426" cy="6947584"/>
            <a:chOff x="0" y="0"/>
            <a:chExt cx="2882035" cy="2355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82035" cy="2355827"/>
            </a:xfrm>
            <a:custGeom>
              <a:avLst/>
              <a:gdLst/>
              <a:ahLst/>
              <a:cxnLst/>
              <a:rect r="r" b="b" t="t" l="l"/>
              <a:pathLst>
                <a:path h="2355827" w="2882035">
                  <a:moveTo>
                    <a:pt x="12752" y="0"/>
                  </a:moveTo>
                  <a:lnTo>
                    <a:pt x="2869283" y="0"/>
                  </a:lnTo>
                  <a:cubicBezTo>
                    <a:pt x="2876326" y="0"/>
                    <a:pt x="2882035" y="5709"/>
                    <a:pt x="2882035" y="12752"/>
                  </a:cubicBezTo>
                  <a:lnTo>
                    <a:pt x="2882035" y="2343075"/>
                  </a:lnTo>
                  <a:cubicBezTo>
                    <a:pt x="2882035" y="2350118"/>
                    <a:pt x="2876326" y="2355827"/>
                    <a:pt x="2869283" y="2355827"/>
                  </a:cubicBezTo>
                  <a:lnTo>
                    <a:pt x="12752" y="2355827"/>
                  </a:lnTo>
                  <a:cubicBezTo>
                    <a:pt x="5709" y="2355827"/>
                    <a:pt x="0" y="2350118"/>
                    <a:pt x="0" y="2343075"/>
                  </a:cubicBezTo>
                  <a:lnTo>
                    <a:pt x="0" y="12752"/>
                  </a:lnTo>
                  <a:cubicBezTo>
                    <a:pt x="0" y="5709"/>
                    <a:pt x="5709" y="0"/>
                    <a:pt x="1275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7" r="0" b="-237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789467" y="8223456"/>
            <a:ext cx="1539914" cy="1551196"/>
          </a:xfrm>
          <a:custGeom>
            <a:avLst/>
            <a:gdLst/>
            <a:ahLst/>
            <a:cxnLst/>
            <a:rect r="r" b="b" t="t" l="l"/>
            <a:pathLst>
              <a:path h="1551196" w="1539914">
                <a:moveTo>
                  <a:pt x="0" y="0"/>
                </a:moveTo>
                <a:lnTo>
                  <a:pt x="1539914" y="0"/>
                </a:lnTo>
                <a:lnTo>
                  <a:pt x="1539914" y="1551196"/>
                </a:lnTo>
                <a:lnTo>
                  <a:pt x="0" y="155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26292"/>
            <a:ext cx="7354667" cy="387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ed w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ith 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am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opt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miz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er, learning rate 1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e−3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, batch size = 1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igmoid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iva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tion provided smoother convergence an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lower loss than ReLU.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ss decreases stead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ily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ross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→ st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ble g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upd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Demonstra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tes effective learning of UAV–cluster relationships.</a:t>
            </a:r>
          </a:p>
          <a:p>
            <a:pPr algn="l">
              <a:lnSpc>
                <a:spcPts val="338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88038" y="885825"/>
            <a:ext cx="8053372" cy="323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  <a:r>
              <a:rPr lang="en-US" sz="64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Training Performance of GCN Model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9467" y="8223456"/>
            <a:ext cx="1539914" cy="1551196"/>
          </a:xfrm>
          <a:custGeom>
            <a:avLst/>
            <a:gdLst/>
            <a:ahLst/>
            <a:cxnLst/>
            <a:rect r="r" b="b" t="t" l="l"/>
            <a:pathLst>
              <a:path h="1551196" w="1539914">
                <a:moveTo>
                  <a:pt x="0" y="0"/>
                </a:moveTo>
                <a:lnTo>
                  <a:pt x="1539914" y="0"/>
                </a:lnTo>
                <a:lnTo>
                  <a:pt x="1539914" y="1551196"/>
                </a:lnTo>
                <a:lnTo>
                  <a:pt x="0" y="155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83367" y="1816555"/>
            <a:ext cx="9554968" cy="5371874"/>
          </a:xfrm>
          <a:custGeom>
            <a:avLst/>
            <a:gdLst/>
            <a:ahLst/>
            <a:cxnLst/>
            <a:rect r="r" b="b" t="t" l="l"/>
            <a:pathLst>
              <a:path h="5371874" w="9554968">
                <a:moveTo>
                  <a:pt x="0" y="0"/>
                </a:moveTo>
                <a:lnTo>
                  <a:pt x="9554968" y="0"/>
                </a:lnTo>
                <a:lnTo>
                  <a:pt x="9554968" y="5371874"/>
                </a:lnTo>
                <a:lnTo>
                  <a:pt x="0" y="537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05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8038" y="4426292"/>
            <a:ext cx="7354667" cy="387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Min and mean loss decre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ase significantly as epoch count increases.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Max loss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dro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ps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sharply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up to 300 epochs, then stabilizes → improved consistency.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Indicates stronger convergence and reduced variance w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ith longe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 training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Opti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mal trade-off between accuracy and efficienc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 achieved at 300–500 epochs.</a:t>
            </a:r>
          </a:p>
          <a:p>
            <a:pPr algn="l">
              <a:lnSpc>
                <a:spcPts val="338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88038" y="885825"/>
            <a:ext cx="8053372" cy="323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  <a:r>
              <a:rPr lang="en-US" sz="64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Impact of Epoch Count on Convergence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9467" y="8223456"/>
            <a:ext cx="1539914" cy="1551196"/>
          </a:xfrm>
          <a:custGeom>
            <a:avLst/>
            <a:gdLst/>
            <a:ahLst/>
            <a:cxnLst/>
            <a:rect r="r" b="b" t="t" l="l"/>
            <a:pathLst>
              <a:path h="1551196" w="1539914">
                <a:moveTo>
                  <a:pt x="0" y="0"/>
                </a:moveTo>
                <a:lnTo>
                  <a:pt x="1539914" y="0"/>
                </a:lnTo>
                <a:lnTo>
                  <a:pt x="1539914" y="1551196"/>
                </a:lnTo>
                <a:lnTo>
                  <a:pt x="0" y="155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83367" y="2002295"/>
            <a:ext cx="9554968" cy="5697150"/>
          </a:xfrm>
          <a:custGeom>
            <a:avLst/>
            <a:gdLst/>
            <a:ahLst/>
            <a:cxnLst/>
            <a:rect r="r" b="b" t="t" l="l"/>
            <a:pathLst>
              <a:path h="5697150" w="9554968">
                <a:moveTo>
                  <a:pt x="0" y="0"/>
                </a:moveTo>
                <a:lnTo>
                  <a:pt x="9554968" y="0"/>
                </a:lnTo>
                <a:lnTo>
                  <a:pt x="9554968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26292"/>
            <a:ext cx="7354667" cy="515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Evalu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ated fi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ss 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ab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ili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ty ov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 50 independent trials.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200 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chs: large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flu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ctuations → unstable convergence.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300 epochs: smoother trend, fewer spikes, moderate stab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ility.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500 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hs: lowest and most cons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ist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ent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loss → b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est convergence.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Indica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tes that higher epoch counts improve both accuracy and reliability.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</a:p>
          <a:p>
            <a:pPr algn="l">
              <a:lnSpc>
                <a:spcPts val="338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88038" y="885825"/>
            <a:ext cx="7495329" cy="299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</a:p>
          <a:p>
            <a:pPr algn="l">
              <a:lnSpc>
                <a:spcPts val="7419"/>
              </a:lnSpc>
            </a:pPr>
            <a:r>
              <a:rPr lang="en-US" sz="57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Stability Analysis (Learning Rate = 1e−2)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733" y="0"/>
            <a:ext cx="18323786" cy="6219358"/>
            <a:chOff x="0" y="0"/>
            <a:chExt cx="2564431" cy="870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4431" cy="870405"/>
            </a:xfrm>
            <a:custGeom>
              <a:avLst/>
              <a:gdLst/>
              <a:ahLst/>
              <a:cxnLst/>
              <a:rect r="r" b="b" t="t" l="l"/>
              <a:pathLst>
                <a:path h="870405" w="2564431">
                  <a:moveTo>
                    <a:pt x="16478" y="0"/>
                  </a:moveTo>
                  <a:lnTo>
                    <a:pt x="2547953" y="0"/>
                  </a:lnTo>
                  <a:cubicBezTo>
                    <a:pt x="2552323" y="0"/>
                    <a:pt x="2556514" y="1736"/>
                    <a:pt x="2559605" y="4826"/>
                  </a:cubicBezTo>
                  <a:cubicBezTo>
                    <a:pt x="2562695" y="7916"/>
                    <a:pt x="2564431" y="12108"/>
                    <a:pt x="2564431" y="16478"/>
                  </a:cubicBezTo>
                  <a:lnTo>
                    <a:pt x="2564431" y="853927"/>
                  </a:lnTo>
                  <a:cubicBezTo>
                    <a:pt x="2564431" y="858297"/>
                    <a:pt x="2562695" y="862489"/>
                    <a:pt x="2559605" y="865579"/>
                  </a:cubicBezTo>
                  <a:cubicBezTo>
                    <a:pt x="2556514" y="868669"/>
                    <a:pt x="2552323" y="870405"/>
                    <a:pt x="2547953" y="870405"/>
                  </a:cubicBezTo>
                  <a:lnTo>
                    <a:pt x="16478" y="870405"/>
                  </a:lnTo>
                  <a:cubicBezTo>
                    <a:pt x="12108" y="870405"/>
                    <a:pt x="7916" y="868669"/>
                    <a:pt x="4826" y="865579"/>
                  </a:cubicBezTo>
                  <a:cubicBezTo>
                    <a:pt x="1736" y="862489"/>
                    <a:pt x="0" y="858297"/>
                    <a:pt x="0" y="853927"/>
                  </a:cubicBezTo>
                  <a:lnTo>
                    <a:pt x="0" y="16478"/>
                  </a:lnTo>
                  <a:cubicBezTo>
                    <a:pt x="0" y="12108"/>
                    <a:pt x="1736" y="7916"/>
                    <a:pt x="4826" y="4826"/>
                  </a:cubicBezTo>
                  <a:cubicBezTo>
                    <a:pt x="7916" y="1736"/>
                    <a:pt x="12108" y="0"/>
                    <a:pt x="1647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656" r="0" b="-2365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369577" y="6217150"/>
            <a:ext cx="15889723" cy="90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2"/>
              </a:lnSpc>
            </a:pPr>
            <a:r>
              <a:rPr lang="en-US" sz="529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Effect of Epoch Count on GCN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152916"/>
            <a:ext cx="7499907" cy="254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60"/>
              </a:lnSpc>
            </a:pPr>
            <a:r>
              <a:rPr lang="en-US" sz="2400" spc="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aining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ffic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ency:</a:t>
            </a:r>
          </a:p>
          <a:p>
            <a:pPr algn="just" marL="518253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ly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epo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(100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→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500).</a:t>
            </a:r>
          </a:p>
          <a:p>
            <a:pPr algn="just" marL="518253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eve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stronge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conv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rg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nd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low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ance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0" indent="0" lvl="0">
              <a:lnSpc>
                <a:spcPts val="33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15767" y="7152916"/>
            <a:ext cx="7499907" cy="297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60"/>
              </a:lnSpc>
            </a:pPr>
            <a:r>
              <a:rPr lang="en-US" sz="2400" spc="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Stab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ilit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y:</a:t>
            </a:r>
          </a:p>
          <a:p>
            <a:pPr algn="just" marL="518253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200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hs,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ing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rem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u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tabl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518253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300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epo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mprove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balance be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wee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cu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racy 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ning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518253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500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epoch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 sta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bl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and 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elia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bl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f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nal loss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07212"/>
            <a:chOff x="0" y="0"/>
            <a:chExt cx="2564431" cy="870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4431" cy="870405"/>
            </a:xfrm>
            <a:custGeom>
              <a:avLst/>
              <a:gdLst/>
              <a:ahLst/>
              <a:cxnLst/>
              <a:rect r="r" b="b" t="t" l="l"/>
              <a:pathLst>
                <a:path h="870405" w="2564431">
                  <a:moveTo>
                    <a:pt x="16510" y="0"/>
                  </a:moveTo>
                  <a:lnTo>
                    <a:pt x="2547921" y="0"/>
                  </a:lnTo>
                  <a:cubicBezTo>
                    <a:pt x="2552300" y="0"/>
                    <a:pt x="2556499" y="1739"/>
                    <a:pt x="2559595" y="4836"/>
                  </a:cubicBezTo>
                  <a:cubicBezTo>
                    <a:pt x="2562691" y="7932"/>
                    <a:pt x="2564431" y="12131"/>
                    <a:pt x="2564431" y="16510"/>
                  </a:cubicBezTo>
                  <a:lnTo>
                    <a:pt x="2564431" y="853895"/>
                  </a:lnTo>
                  <a:cubicBezTo>
                    <a:pt x="2564431" y="863013"/>
                    <a:pt x="2557039" y="870405"/>
                    <a:pt x="2547921" y="870405"/>
                  </a:cubicBezTo>
                  <a:lnTo>
                    <a:pt x="16510" y="870405"/>
                  </a:lnTo>
                  <a:cubicBezTo>
                    <a:pt x="7392" y="870405"/>
                    <a:pt x="0" y="863013"/>
                    <a:pt x="0" y="853895"/>
                  </a:cubicBezTo>
                  <a:lnTo>
                    <a:pt x="0" y="16510"/>
                  </a:lnTo>
                  <a:cubicBezTo>
                    <a:pt x="0" y="7392"/>
                    <a:pt x="7392" y="0"/>
                    <a:pt x="1651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656" r="0" b="-2365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369577" y="6437648"/>
            <a:ext cx="15889723" cy="90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2"/>
              </a:lnSpc>
            </a:pPr>
            <a:r>
              <a:rPr lang="en-US" sz="529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Effect of Epoch Count on GCN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9577" y="7407025"/>
            <a:ext cx="14860689" cy="170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60"/>
              </a:lnSpc>
            </a:pPr>
            <a:r>
              <a:rPr lang="en-US" sz="2400" spc="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lus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ion:</a:t>
            </a:r>
          </a:p>
          <a:p>
            <a:pPr algn="just" marL="518253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ncreasing epochs enhances bo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cu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and ro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bustn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ess,</a:t>
            </a:r>
          </a:p>
          <a:p>
            <a:pPr algn="just" marL="518253" indent="-259127" lvl="1">
              <a:lnSpc>
                <a:spcPts val="3360"/>
              </a:lnSpc>
              <a:buFont typeface="Arial"/>
              <a:buChar char="•"/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but gains sa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turate beyo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 500 epo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hs</a:t>
            </a: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85699" y="2207547"/>
            <a:ext cx="9536271" cy="1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65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5699" y="3544009"/>
            <a:ext cx="8053372" cy="47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</a:pPr>
            <a:r>
              <a:rPr lang="en-US" sz="2619" spc="11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Thank you for your attention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940065" y="1379932"/>
            <a:ext cx="7319235" cy="7319235"/>
            <a:chOff x="0" y="0"/>
            <a:chExt cx="8916670" cy="8916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3"/>
              <a:stretch>
                <a:fillRect l="-56842" t="0" r="0" b="-17489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  <a:moveTo>
                    <a:pt x="4451350" y="8764270"/>
                  </a:moveTo>
                  <a:cubicBezTo>
                    <a:pt x="2073910" y="8764270"/>
                    <a:pt x="139700" y="6830060"/>
                    <a:pt x="139700" y="4451350"/>
                  </a:cubicBezTo>
                  <a:cubicBezTo>
                    <a:pt x="139700" y="2072640"/>
                    <a:pt x="2073910" y="139700"/>
                    <a:pt x="4451350" y="139700"/>
                  </a:cubicBezTo>
                  <a:cubicBezTo>
                    <a:pt x="6828790" y="139700"/>
                    <a:pt x="8764270" y="2073910"/>
                    <a:pt x="8764270" y="4451350"/>
                  </a:cubicBezTo>
                  <a:cubicBezTo>
                    <a:pt x="8764270" y="6828790"/>
                    <a:pt x="6830060" y="8764270"/>
                    <a:pt x="4451350" y="8764270"/>
                  </a:cubicBezTo>
                  <a:close/>
                  <a:moveTo>
                    <a:pt x="4451350" y="158750"/>
                  </a:moveTo>
                  <a:cubicBezTo>
                    <a:pt x="2084070" y="158750"/>
                    <a:pt x="158750" y="2084070"/>
                    <a:pt x="158750" y="4451350"/>
                  </a:cubicBezTo>
                  <a:cubicBezTo>
                    <a:pt x="158750" y="6818630"/>
                    <a:pt x="2084070" y="8743950"/>
                    <a:pt x="4451350" y="8743950"/>
                  </a:cubicBezTo>
                  <a:cubicBezTo>
                    <a:pt x="6818630" y="8743950"/>
                    <a:pt x="8743950" y="6818630"/>
                    <a:pt x="8743950" y="4451350"/>
                  </a:cubicBezTo>
                  <a:cubicBezTo>
                    <a:pt x="8743950" y="2084070"/>
                    <a:pt x="6819900" y="158750"/>
                    <a:pt x="4451350" y="1587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6465" y="879937"/>
            <a:ext cx="7453924" cy="9407063"/>
          </a:xfrm>
          <a:custGeom>
            <a:avLst/>
            <a:gdLst/>
            <a:ahLst/>
            <a:cxnLst/>
            <a:rect r="r" b="b" t="t" l="l"/>
            <a:pathLst>
              <a:path h="9407063" w="7453924">
                <a:moveTo>
                  <a:pt x="0" y="0"/>
                </a:moveTo>
                <a:lnTo>
                  <a:pt x="7453924" y="0"/>
                </a:lnTo>
                <a:lnTo>
                  <a:pt x="7453924" y="9407063"/>
                </a:lnTo>
                <a:lnTo>
                  <a:pt x="0" y="9407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18" t="-3109" r="-1373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27010"/>
            <a:ext cx="7597578" cy="442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2"/>
              </a:lnSpc>
            </a:pPr>
            <a:r>
              <a:rPr lang="en-US" sz="9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Power of Artificial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9321" y="1508729"/>
            <a:ext cx="1596875" cy="62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84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Arowwai Industries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8699167"/>
            <a:ext cx="3588191" cy="559133"/>
            <a:chOff x="0" y="0"/>
            <a:chExt cx="945038" cy="147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38" cy="147261"/>
            </a:xfrm>
            <a:custGeom>
              <a:avLst/>
              <a:gdLst/>
              <a:ahLst/>
              <a:cxnLst/>
              <a:rect r="r" b="b" t="t" l="l"/>
              <a:pathLst>
                <a:path h="147261" w="945038">
                  <a:moveTo>
                    <a:pt x="56098" y="0"/>
                  </a:moveTo>
                  <a:lnTo>
                    <a:pt x="888940" y="0"/>
                  </a:lnTo>
                  <a:cubicBezTo>
                    <a:pt x="903818" y="0"/>
                    <a:pt x="918087" y="5910"/>
                    <a:pt x="928607" y="16431"/>
                  </a:cubicBezTo>
                  <a:cubicBezTo>
                    <a:pt x="939128" y="26951"/>
                    <a:pt x="945038" y="41220"/>
                    <a:pt x="945038" y="56098"/>
                  </a:cubicBezTo>
                  <a:lnTo>
                    <a:pt x="945038" y="91164"/>
                  </a:lnTo>
                  <a:cubicBezTo>
                    <a:pt x="945038" y="106042"/>
                    <a:pt x="939128" y="120310"/>
                    <a:pt x="928607" y="130831"/>
                  </a:cubicBezTo>
                  <a:cubicBezTo>
                    <a:pt x="918087" y="141351"/>
                    <a:pt x="903818" y="147261"/>
                    <a:pt x="888940" y="147261"/>
                  </a:cubicBezTo>
                  <a:lnTo>
                    <a:pt x="56098" y="147261"/>
                  </a:lnTo>
                  <a:cubicBezTo>
                    <a:pt x="41220" y="147261"/>
                    <a:pt x="26951" y="141351"/>
                    <a:pt x="16431" y="130831"/>
                  </a:cubicBezTo>
                  <a:cubicBezTo>
                    <a:pt x="5910" y="120310"/>
                    <a:pt x="0" y="106042"/>
                    <a:pt x="0" y="91164"/>
                  </a:cubicBezTo>
                  <a:lnTo>
                    <a:pt x="0" y="56098"/>
                  </a:lnTo>
                  <a:cubicBezTo>
                    <a:pt x="0" y="41220"/>
                    <a:pt x="5910" y="26951"/>
                    <a:pt x="16431" y="16431"/>
                  </a:cubicBezTo>
                  <a:cubicBezTo>
                    <a:pt x="26951" y="5910"/>
                    <a:pt x="41220" y="0"/>
                    <a:pt x="560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45038" cy="204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www.reallygreatsite.com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546829"/>
            <a:ext cx="607033" cy="486312"/>
          </a:xfrm>
          <a:custGeom>
            <a:avLst/>
            <a:gdLst/>
            <a:ahLst/>
            <a:cxnLst/>
            <a:rect r="r" b="b" t="t" l="l"/>
            <a:pathLst>
              <a:path h="486312" w="607033">
                <a:moveTo>
                  <a:pt x="0" y="0"/>
                </a:moveTo>
                <a:lnTo>
                  <a:pt x="607033" y="0"/>
                </a:lnTo>
                <a:lnTo>
                  <a:pt x="607033" y="486312"/>
                </a:lnTo>
                <a:lnTo>
                  <a:pt x="0" y="486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6783015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8184" y="2017446"/>
            <a:ext cx="5777796" cy="227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783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Table of Content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676173" y="1482064"/>
            <a:ext cx="8583127" cy="7363298"/>
            <a:chOff x="0" y="0"/>
            <a:chExt cx="1257627" cy="10788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627" cy="1078894"/>
            </a:xfrm>
            <a:custGeom>
              <a:avLst/>
              <a:gdLst/>
              <a:ahLst/>
              <a:cxnLst/>
              <a:rect r="r" b="b" t="t" l="l"/>
              <a:pathLst>
                <a:path h="1078894" w="1257627">
                  <a:moveTo>
                    <a:pt x="35178" y="0"/>
                  </a:moveTo>
                  <a:lnTo>
                    <a:pt x="1222449" y="0"/>
                  </a:lnTo>
                  <a:cubicBezTo>
                    <a:pt x="1231779" y="0"/>
                    <a:pt x="1240726" y="3706"/>
                    <a:pt x="1247323" y="10303"/>
                  </a:cubicBezTo>
                  <a:cubicBezTo>
                    <a:pt x="1253921" y="16900"/>
                    <a:pt x="1257627" y="25848"/>
                    <a:pt x="1257627" y="35178"/>
                  </a:cubicBezTo>
                  <a:lnTo>
                    <a:pt x="1257627" y="1043716"/>
                  </a:lnTo>
                  <a:cubicBezTo>
                    <a:pt x="1257627" y="1053046"/>
                    <a:pt x="1253921" y="1061993"/>
                    <a:pt x="1247323" y="1068590"/>
                  </a:cubicBezTo>
                  <a:cubicBezTo>
                    <a:pt x="1240726" y="1075187"/>
                    <a:pt x="1231779" y="1078894"/>
                    <a:pt x="1222449" y="1078894"/>
                  </a:cubicBezTo>
                  <a:lnTo>
                    <a:pt x="35178" y="1078894"/>
                  </a:lnTo>
                  <a:cubicBezTo>
                    <a:pt x="25848" y="1078894"/>
                    <a:pt x="16900" y="1075187"/>
                    <a:pt x="10303" y="1068590"/>
                  </a:cubicBezTo>
                  <a:cubicBezTo>
                    <a:pt x="3706" y="1061993"/>
                    <a:pt x="0" y="1053046"/>
                    <a:pt x="0" y="1043716"/>
                  </a:cubicBezTo>
                  <a:lnTo>
                    <a:pt x="0" y="35178"/>
                  </a:lnTo>
                  <a:cubicBezTo>
                    <a:pt x="0" y="25848"/>
                    <a:pt x="3706" y="16900"/>
                    <a:pt x="10303" y="10303"/>
                  </a:cubicBezTo>
                  <a:cubicBezTo>
                    <a:pt x="16900" y="3706"/>
                    <a:pt x="25848" y="0"/>
                    <a:pt x="35178" y="0"/>
                  </a:cubicBezTo>
                  <a:close/>
                </a:path>
              </a:pathLst>
            </a:custGeom>
            <a:blipFill>
              <a:blip r:embed="rId3"/>
              <a:stretch>
                <a:fillRect l="-7192" t="0" r="-7192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84655" y="4392202"/>
            <a:ext cx="569605" cy="4453160"/>
            <a:chOff x="0" y="0"/>
            <a:chExt cx="150019" cy="1172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019" cy="1172849"/>
            </a:xfrm>
            <a:custGeom>
              <a:avLst/>
              <a:gdLst/>
              <a:ahLst/>
              <a:cxnLst/>
              <a:rect r="r" b="b" t="t" l="l"/>
              <a:pathLst>
                <a:path h="1172849" w="150019">
                  <a:moveTo>
                    <a:pt x="75010" y="0"/>
                  </a:moveTo>
                  <a:lnTo>
                    <a:pt x="75010" y="0"/>
                  </a:lnTo>
                  <a:cubicBezTo>
                    <a:pt x="94903" y="0"/>
                    <a:pt x="113982" y="7903"/>
                    <a:pt x="128049" y="21970"/>
                  </a:cubicBezTo>
                  <a:cubicBezTo>
                    <a:pt x="142117" y="36037"/>
                    <a:pt x="150019" y="55116"/>
                    <a:pt x="150019" y="75010"/>
                  </a:cubicBezTo>
                  <a:lnTo>
                    <a:pt x="150019" y="1097839"/>
                  </a:lnTo>
                  <a:cubicBezTo>
                    <a:pt x="150019" y="1139266"/>
                    <a:pt x="116436" y="1172849"/>
                    <a:pt x="75010" y="1172849"/>
                  </a:cubicBezTo>
                  <a:lnTo>
                    <a:pt x="75010" y="1172849"/>
                  </a:lnTo>
                  <a:cubicBezTo>
                    <a:pt x="33583" y="1172849"/>
                    <a:pt x="0" y="1139266"/>
                    <a:pt x="0" y="1097839"/>
                  </a:cubicBezTo>
                  <a:lnTo>
                    <a:pt x="0" y="75010"/>
                  </a:lnTo>
                  <a:cubicBezTo>
                    <a:pt x="0" y="33583"/>
                    <a:pt x="33583" y="0"/>
                    <a:pt x="750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50019" cy="1249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1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2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3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4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5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6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7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8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9</a:t>
              </a:r>
            </a:p>
            <a:p>
              <a:pPr algn="ctr" marL="0" indent="0" lvl="0">
                <a:lnSpc>
                  <a:spcPts val="2800"/>
                </a:lnSpc>
              </a:pPr>
              <a:r>
                <a:rPr lang="en-US" sz="2000" spc="32" strike="noStrike" u="non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10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85535" y="4823231"/>
            <a:ext cx="4666297" cy="390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Motivation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Problem Definition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Dataset Explaination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Graph Convolutional Neural Network?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Graph Definition</a:t>
            </a:r>
          </a:p>
          <a:p>
            <a:pPr algn="l">
              <a:lnSpc>
                <a:spcPts val="2800"/>
              </a:lnSpc>
            </a:pPr>
            <a:r>
              <a:rPr lang="en-US" sz="2000" spc="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Mathematical Formulation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Training Pipeline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Results and Evaluation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Conclusion</a:t>
            </a:r>
          </a:p>
          <a:p>
            <a:pPr algn="l">
              <a:lnSpc>
                <a:spcPts val="2800"/>
              </a:lnSpc>
            </a:pPr>
            <a:r>
              <a:rPr lang="en-US" sz="2000" spc="32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References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57579" y="2473781"/>
            <a:ext cx="12972843" cy="5339439"/>
            <a:chOff x="0" y="0"/>
            <a:chExt cx="3416716" cy="1406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16716" cy="1406272"/>
            </a:xfrm>
            <a:custGeom>
              <a:avLst/>
              <a:gdLst/>
              <a:ahLst/>
              <a:cxnLst/>
              <a:rect r="r" b="b" t="t" l="l"/>
              <a:pathLst>
                <a:path h="1406272" w="3416716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50869" y="3259772"/>
            <a:ext cx="978626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9843" y="4921375"/>
            <a:ext cx="10628314" cy="191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3"/>
              </a:lnSpc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24476" y="4239922"/>
            <a:ext cx="9639048" cy="45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sz="2647" spc="11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Explore the future of artificial intelligence in everyday life.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75865" y="1917083"/>
            <a:ext cx="9536271" cy="98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575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Intelligent Automation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54410" y="3670993"/>
            <a:ext cx="4904890" cy="3015359"/>
            <a:chOff x="0" y="0"/>
            <a:chExt cx="1663179" cy="10224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221" r="0" b="-422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711949" y="3670993"/>
            <a:ext cx="4904890" cy="3015359"/>
            <a:chOff x="0" y="0"/>
            <a:chExt cx="1663179" cy="10224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998" r="0" b="-10998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64963" y="3670993"/>
            <a:ext cx="4904890" cy="3015359"/>
            <a:chOff x="0" y="0"/>
            <a:chExt cx="1663179" cy="10224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3179" cy="1022465"/>
            </a:xfrm>
            <a:custGeom>
              <a:avLst/>
              <a:gdLst/>
              <a:ahLst/>
              <a:cxnLst/>
              <a:rect r="r" b="b" t="t" l="l"/>
              <a:pathLst>
                <a:path h="1022465" w="1663179">
                  <a:moveTo>
                    <a:pt x="22098" y="0"/>
                  </a:moveTo>
                  <a:lnTo>
                    <a:pt x="1641081" y="0"/>
                  </a:lnTo>
                  <a:cubicBezTo>
                    <a:pt x="1646942" y="0"/>
                    <a:pt x="1652562" y="2328"/>
                    <a:pt x="1656706" y="6472"/>
                  </a:cubicBezTo>
                  <a:cubicBezTo>
                    <a:pt x="1660851" y="10616"/>
                    <a:pt x="1663179" y="16237"/>
                    <a:pt x="1663179" y="22098"/>
                  </a:cubicBezTo>
                  <a:lnTo>
                    <a:pt x="1663179" y="1000368"/>
                  </a:lnTo>
                  <a:cubicBezTo>
                    <a:pt x="1663179" y="1012572"/>
                    <a:pt x="1653285" y="1022465"/>
                    <a:pt x="1641081" y="1022465"/>
                  </a:cubicBezTo>
                  <a:lnTo>
                    <a:pt x="22098" y="1022465"/>
                  </a:lnTo>
                  <a:cubicBezTo>
                    <a:pt x="9893" y="1022465"/>
                    <a:pt x="0" y="1012572"/>
                    <a:pt x="0" y="1000368"/>
                  </a:cubicBezTo>
                  <a:lnTo>
                    <a:pt x="0" y="22098"/>
                  </a:lnTo>
                  <a:cubicBezTo>
                    <a:pt x="0" y="9893"/>
                    <a:pt x="9893" y="0"/>
                    <a:pt x="2209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221" r="0" b="-422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595987" y="6386464"/>
            <a:ext cx="4421737" cy="2137960"/>
            <a:chOff x="0" y="0"/>
            <a:chExt cx="1076227" cy="520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53525" y="6386464"/>
            <a:ext cx="4421737" cy="2137960"/>
            <a:chOff x="0" y="0"/>
            <a:chExt cx="1076227" cy="520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6539" y="6386464"/>
            <a:ext cx="4421737" cy="2137960"/>
            <a:chOff x="0" y="0"/>
            <a:chExt cx="1076227" cy="520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6227" cy="520368"/>
            </a:xfrm>
            <a:custGeom>
              <a:avLst/>
              <a:gdLst/>
              <a:ahLst/>
              <a:cxnLst/>
              <a:rect r="r" b="b" t="t" l="l"/>
              <a:pathLst>
                <a:path h="520368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495856"/>
                  </a:lnTo>
                  <a:cubicBezTo>
                    <a:pt x="1076227" y="509393"/>
                    <a:pt x="1065252" y="520368"/>
                    <a:pt x="1051715" y="520368"/>
                  </a:cubicBezTo>
                  <a:lnTo>
                    <a:pt x="24512" y="520368"/>
                  </a:lnTo>
                  <a:cubicBezTo>
                    <a:pt x="10975" y="520368"/>
                    <a:pt x="0" y="509393"/>
                    <a:pt x="0" y="495856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76227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788071" y="6629201"/>
            <a:ext cx="4037568" cy="154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45"/>
              </a:lnSpc>
            </a:pPr>
            <a:r>
              <a:rPr lang="en-US" sz="1746" spc="7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45610" y="6629201"/>
            <a:ext cx="4037568" cy="154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45"/>
              </a:lnSpc>
            </a:pPr>
            <a:r>
              <a:rPr lang="en-US" sz="1746" spc="7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8624" y="6629201"/>
            <a:ext cx="4037568" cy="154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45"/>
              </a:lnSpc>
            </a:pPr>
            <a:r>
              <a:rPr lang="en-US" sz="1746" spc="7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18518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9588" y="3111803"/>
            <a:ext cx="571981" cy="57198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9588" y="4628206"/>
            <a:ext cx="571981" cy="5719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9588" y="6197468"/>
            <a:ext cx="571981" cy="57198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9588" y="7814354"/>
            <a:ext cx="571981" cy="5719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04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939039" y="1194461"/>
            <a:ext cx="6872146" cy="9092539"/>
          </a:xfrm>
          <a:custGeom>
            <a:avLst/>
            <a:gdLst/>
            <a:ahLst/>
            <a:cxnLst/>
            <a:rect r="r" b="b" t="t" l="l"/>
            <a:pathLst>
              <a:path h="9092539" w="6872146">
                <a:moveTo>
                  <a:pt x="0" y="0"/>
                </a:moveTo>
                <a:lnTo>
                  <a:pt x="6872146" y="0"/>
                </a:lnTo>
                <a:lnTo>
                  <a:pt x="6872146" y="9092539"/>
                </a:lnTo>
                <a:lnTo>
                  <a:pt x="0" y="9092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413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9588" y="1447555"/>
            <a:ext cx="9536271" cy="1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65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AI Models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2183" y="3087746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2183" y="4604149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2183" y="6173411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32183" y="7790297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3596" y="313393"/>
            <a:ext cx="17501882" cy="5940392"/>
            <a:chOff x="0" y="0"/>
            <a:chExt cx="2564431" cy="870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4431" cy="870405"/>
            </a:xfrm>
            <a:custGeom>
              <a:avLst/>
              <a:gdLst/>
              <a:ahLst/>
              <a:cxnLst/>
              <a:rect r="r" b="b" t="t" l="l"/>
              <a:pathLst>
                <a:path h="870405" w="2564431">
                  <a:moveTo>
                    <a:pt x="17252" y="0"/>
                  </a:moveTo>
                  <a:lnTo>
                    <a:pt x="2547179" y="0"/>
                  </a:lnTo>
                  <a:cubicBezTo>
                    <a:pt x="2551755" y="0"/>
                    <a:pt x="2556143" y="1818"/>
                    <a:pt x="2559378" y="5053"/>
                  </a:cubicBezTo>
                  <a:cubicBezTo>
                    <a:pt x="2562613" y="8288"/>
                    <a:pt x="2564431" y="12676"/>
                    <a:pt x="2564431" y="17252"/>
                  </a:cubicBezTo>
                  <a:lnTo>
                    <a:pt x="2564431" y="853153"/>
                  </a:lnTo>
                  <a:cubicBezTo>
                    <a:pt x="2564431" y="857729"/>
                    <a:pt x="2562613" y="862117"/>
                    <a:pt x="2559378" y="865352"/>
                  </a:cubicBezTo>
                  <a:cubicBezTo>
                    <a:pt x="2556143" y="868587"/>
                    <a:pt x="2551755" y="870405"/>
                    <a:pt x="2547179" y="870405"/>
                  </a:cubicBezTo>
                  <a:lnTo>
                    <a:pt x="17252" y="870405"/>
                  </a:lnTo>
                  <a:cubicBezTo>
                    <a:pt x="12676" y="870405"/>
                    <a:pt x="8288" y="868587"/>
                    <a:pt x="5053" y="865352"/>
                  </a:cubicBezTo>
                  <a:cubicBezTo>
                    <a:pt x="1818" y="862117"/>
                    <a:pt x="0" y="857729"/>
                    <a:pt x="0" y="853153"/>
                  </a:cubicBezTo>
                  <a:lnTo>
                    <a:pt x="0" y="17252"/>
                  </a:lnTo>
                  <a:cubicBezTo>
                    <a:pt x="0" y="12676"/>
                    <a:pt x="1818" y="8288"/>
                    <a:pt x="5053" y="5053"/>
                  </a:cubicBezTo>
                  <a:cubicBezTo>
                    <a:pt x="8288" y="1818"/>
                    <a:pt x="12676" y="0"/>
                    <a:pt x="1725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146" r="0" b="-4814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203377" y="6617728"/>
            <a:ext cx="6795667" cy="90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2"/>
              </a:lnSpc>
            </a:pPr>
            <a:r>
              <a:rPr lang="en-US" sz="529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Machine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3377" y="7553833"/>
            <a:ext cx="7499907" cy="170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60"/>
              </a:lnSpc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25833" y="7553833"/>
            <a:ext cx="7499907" cy="170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60"/>
              </a:lnSpc>
            </a:pPr>
            <a:r>
              <a:rPr lang="en-US" sz="2400" spc="10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93704" y="5951465"/>
            <a:ext cx="3589307" cy="604641"/>
            <a:chOff x="0" y="0"/>
            <a:chExt cx="874183" cy="147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4183" cy="147261"/>
            </a:xfrm>
            <a:custGeom>
              <a:avLst/>
              <a:gdLst/>
              <a:ahLst/>
              <a:cxnLst/>
              <a:rect r="r" b="b" t="t" l="l"/>
              <a:pathLst>
                <a:path h="147261" w="874183">
                  <a:moveTo>
                    <a:pt x="56080" y="0"/>
                  </a:moveTo>
                  <a:lnTo>
                    <a:pt x="818102" y="0"/>
                  </a:lnTo>
                  <a:cubicBezTo>
                    <a:pt x="832976" y="0"/>
                    <a:pt x="847240" y="5908"/>
                    <a:pt x="857757" y="16426"/>
                  </a:cubicBezTo>
                  <a:cubicBezTo>
                    <a:pt x="868274" y="26943"/>
                    <a:pt x="874183" y="41207"/>
                    <a:pt x="874183" y="56080"/>
                  </a:cubicBezTo>
                  <a:lnTo>
                    <a:pt x="874183" y="91181"/>
                  </a:lnTo>
                  <a:cubicBezTo>
                    <a:pt x="874183" y="106054"/>
                    <a:pt x="868274" y="120319"/>
                    <a:pt x="857757" y="130836"/>
                  </a:cubicBezTo>
                  <a:cubicBezTo>
                    <a:pt x="847240" y="141353"/>
                    <a:pt x="832976" y="147261"/>
                    <a:pt x="818102" y="147261"/>
                  </a:cubicBezTo>
                  <a:lnTo>
                    <a:pt x="56080" y="147261"/>
                  </a:lnTo>
                  <a:cubicBezTo>
                    <a:pt x="41207" y="147261"/>
                    <a:pt x="26943" y="141353"/>
                    <a:pt x="16426" y="130836"/>
                  </a:cubicBezTo>
                  <a:cubicBezTo>
                    <a:pt x="5908" y="120319"/>
                    <a:pt x="0" y="106054"/>
                    <a:pt x="0" y="91181"/>
                  </a:cubicBezTo>
                  <a:lnTo>
                    <a:pt x="0" y="56080"/>
                  </a:lnTo>
                  <a:cubicBezTo>
                    <a:pt x="0" y="41207"/>
                    <a:pt x="5908" y="26943"/>
                    <a:pt x="16426" y="16426"/>
                  </a:cubicBezTo>
                  <a:cubicBezTo>
                    <a:pt x="26943" y="5908"/>
                    <a:pt x="41207" y="0"/>
                    <a:pt x="560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74183" cy="204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www.reallygreatsite.com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2806" t="-48141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5061" y="1822585"/>
            <a:ext cx="12857878" cy="104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9"/>
              </a:lnSpc>
            </a:pPr>
            <a:r>
              <a:rPr lang="en-US" sz="611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Artificial Intelligence Technology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4847" y="2792679"/>
            <a:ext cx="15098306" cy="101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7"/>
              </a:lnSpc>
            </a:pPr>
            <a:r>
              <a:rPr lang="en-US" sz="2819" spc="11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8143" y="6135494"/>
            <a:ext cx="3764565" cy="195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0"/>
              </a:lnSpc>
            </a:pPr>
            <a:r>
              <a:rPr lang="en-US" sz="1843" spc="7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21752" y="6135494"/>
            <a:ext cx="3764565" cy="195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0"/>
              </a:lnSpc>
            </a:pPr>
            <a:r>
              <a:rPr lang="en-US" sz="1843" spc="7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6352" y="6135494"/>
            <a:ext cx="3764565" cy="195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0"/>
              </a:lnSpc>
            </a:pPr>
            <a:r>
              <a:rPr lang="en-US" sz="1843" spc="7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67151" y="6135494"/>
            <a:ext cx="3764565" cy="195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0"/>
              </a:lnSpc>
            </a:pPr>
            <a:r>
              <a:rPr lang="en-US" sz="1843" spc="7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6284" y="4592503"/>
            <a:ext cx="1476315" cy="14763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39893" y="4592503"/>
            <a:ext cx="1476315" cy="147631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24492" y="4592503"/>
            <a:ext cx="1476315" cy="147631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985292" y="4592503"/>
            <a:ext cx="1476315" cy="14763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38787" y="4885579"/>
            <a:ext cx="659593" cy="909214"/>
          </a:xfrm>
          <a:custGeom>
            <a:avLst/>
            <a:gdLst/>
            <a:ahLst/>
            <a:cxnLst/>
            <a:rect r="r" b="b" t="t" l="l"/>
            <a:pathLst>
              <a:path h="909214" w="659593">
                <a:moveTo>
                  <a:pt x="0" y="0"/>
                </a:moveTo>
                <a:lnTo>
                  <a:pt x="659594" y="0"/>
                </a:lnTo>
                <a:lnTo>
                  <a:pt x="659594" y="909214"/>
                </a:lnTo>
                <a:lnTo>
                  <a:pt x="0" y="90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58246" y="4852227"/>
            <a:ext cx="930407" cy="930407"/>
          </a:xfrm>
          <a:custGeom>
            <a:avLst/>
            <a:gdLst/>
            <a:ahLst/>
            <a:cxnLst/>
            <a:rect r="r" b="b" t="t" l="l"/>
            <a:pathLst>
              <a:path h="930407" w="930407">
                <a:moveTo>
                  <a:pt x="0" y="0"/>
                </a:moveTo>
                <a:lnTo>
                  <a:pt x="930407" y="0"/>
                </a:lnTo>
                <a:lnTo>
                  <a:pt x="930407" y="930407"/>
                </a:lnTo>
                <a:lnTo>
                  <a:pt x="0" y="930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5241918" y="4911011"/>
            <a:ext cx="858350" cy="858350"/>
          </a:xfrm>
          <a:custGeom>
            <a:avLst/>
            <a:gdLst/>
            <a:ahLst/>
            <a:cxnLst/>
            <a:rect r="r" b="b" t="t" l="l"/>
            <a:pathLst>
              <a:path h="858350" w="858350">
                <a:moveTo>
                  <a:pt x="0" y="0"/>
                </a:moveTo>
                <a:lnTo>
                  <a:pt x="858349" y="0"/>
                </a:lnTo>
                <a:lnTo>
                  <a:pt x="858349" y="858350"/>
                </a:lnTo>
                <a:lnTo>
                  <a:pt x="0" y="858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9692809" y="4833926"/>
            <a:ext cx="967009" cy="967009"/>
          </a:xfrm>
          <a:custGeom>
            <a:avLst/>
            <a:gdLst/>
            <a:ahLst/>
            <a:cxnLst/>
            <a:rect r="r" b="b" t="t" l="l"/>
            <a:pathLst>
              <a:path h="967009" w="967009">
                <a:moveTo>
                  <a:pt x="0" y="0"/>
                </a:moveTo>
                <a:lnTo>
                  <a:pt x="967009" y="0"/>
                </a:lnTo>
                <a:lnTo>
                  <a:pt x="967009" y="967009"/>
                </a:lnTo>
                <a:lnTo>
                  <a:pt x="0" y="96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171173"/>
            <a:ext cx="1010106" cy="1186640"/>
            <a:chOff x="0" y="0"/>
            <a:chExt cx="205815" cy="2417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815" cy="241785"/>
            </a:xfrm>
            <a:custGeom>
              <a:avLst/>
              <a:gdLst/>
              <a:ahLst/>
              <a:cxnLst/>
              <a:rect r="r" b="b" t="t" l="l"/>
              <a:pathLst>
                <a:path h="241785" w="205815">
                  <a:moveTo>
                    <a:pt x="0" y="0"/>
                  </a:moveTo>
                  <a:lnTo>
                    <a:pt x="205815" y="0"/>
                  </a:lnTo>
                  <a:lnTo>
                    <a:pt x="205815" y="241785"/>
                  </a:lnTo>
                  <a:lnTo>
                    <a:pt x="0" y="241785"/>
                  </a:ln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05815" cy="298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5614989"/>
            <a:ext cx="1010106" cy="1186640"/>
            <a:chOff x="0" y="0"/>
            <a:chExt cx="205815" cy="2417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815" cy="241785"/>
            </a:xfrm>
            <a:custGeom>
              <a:avLst/>
              <a:gdLst/>
              <a:ahLst/>
              <a:cxnLst/>
              <a:rect r="r" b="b" t="t" l="l"/>
              <a:pathLst>
                <a:path h="241785" w="205815">
                  <a:moveTo>
                    <a:pt x="0" y="0"/>
                  </a:moveTo>
                  <a:lnTo>
                    <a:pt x="205815" y="0"/>
                  </a:lnTo>
                  <a:lnTo>
                    <a:pt x="205815" y="241785"/>
                  </a:lnTo>
                  <a:lnTo>
                    <a:pt x="0" y="241785"/>
                  </a:ln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5815" cy="298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7058804"/>
            <a:ext cx="1010106" cy="1186640"/>
            <a:chOff x="0" y="0"/>
            <a:chExt cx="205815" cy="2417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815" cy="241785"/>
            </a:xfrm>
            <a:custGeom>
              <a:avLst/>
              <a:gdLst/>
              <a:ahLst/>
              <a:cxnLst/>
              <a:rect r="r" b="b" t="t" l="l"/>
              <a:pathLst>
                <a:path h="241785" w="205815">
                  <a:moveTo>
                    <a:pt x="0" y="0"/>
                  </a:moveTo>
                  <a:lnTo>
                    <a:pt x="205815" y="0"/>
                  </a:lnTo>
                  <a:lnTo>
                    <a:pt x="205815" y="241785"/>
                  </a:lnTo>
                  <a:lnTo>
                    <a:pt x="0" y="241785"/>
                  </a:ln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05815" cy="298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03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693153"/>
            <a:ext cx="8074917" cy="215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6"/>
              </a:lnSpc>
            </a:pPr>
            <a:r>
              <a:rPr lang="en-US" sz="638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future of Artificial Intelligence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5454" y="4164545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5454" y="5608361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5454" y="7052176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769489" y="0"/>
            <a:ext cx="6518511" cy="10287000"/>
            <a:chOff x="0" y="0"/>
            <a:chExt cx="2210335" cy="34881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0335" cy="3488176"/>
            </a:xfrm>
            <a:custGeom>
              <a:avLst/>
              <a:gdLst/>
              <a:ahLst/>
              <a:cxnLst/>
              <a:rect r="r" b="b" t="t" l="l"/>
              <a:pathLst>
                <a:path h="3488176" w="2210335">
                  <a:moveTo>
                    <a:pt x="0" y="0"/>
                  </a:moveTo>
                  <a:lnTo>
                    <a:pt x="2210335" y="0"/>
                  </a:lnTo>
                  <a:lnTo>
                    <a:pt x="2210335" y="3488176"/>
                  </a:lnTo>
                  <a:lnTo>
                    <a:pt x="0" y="3488176"/>
                  </a:lnTo>
                  <a:close/>
                </a:path>
              </a:pathLst>
            </a:custGeom>
            <a:blipFill>
              <a:blip r:embed="rId3"/>
              <a:stretch>
                <a:fillRect l="-90771" t="0" r="-19644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439921"/>
            <a:ext cx="3677333" cy="559133"/>
            <a:chOff x="0" y="0"/>
            <a:chExt cx="968516" cy="1472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8516" cy="147261"/>
            </a:xfrm>
            <a:custGeom>
              <a:avLst/>
              <a:gdLst/>
              <a:ahLst/>
              <a:cxnLst/>
              <a:rect r="r" b="b" t="t" l="l"/>
              <a:pathLst>
                <a:path h="147261" w="968516">
                  <a:moveTo>
                    <a:pt x="54738" y="0"/>
                  </a:moveTo>
                  <a:lnTo>
                    <a:pt x="913778" y="0"/>
                  </a:lnTo>
                  <a:cubicBezTo>
                    <a:pt x="928295" y="0"/>
                    <a:pt x="942218" y="5767"/>
                    <a:pt x="952483" y="16032"/>
                  </a:cubicBezTo>
                  <a:cubicBezTo>
                    <a:pt x="962749" y="26298"/>
                    <a:pt x="968516" y="40221"/>
                    <a:pt x="968516" y="54738"/>
                  </a:cubicBezTo>
                  <a:lnTo>
                    <a:pt x="968516" y="92523"/>
                  </a:lnTo>
                  <a:cubicBezTo>
                    <a:pt x="968516" y="107041"/>
                    <a:pt x="962749" y="120964"/>
                    <a:pt x="952483" y="131229"/>
                  </a:cubicBezTo>
                  <a:cubicBezTo>
                    <a:pt x="942218" y="141494"/>
                    <a:pt x="928295" y="147261"/>
                    <a:pt x="913778" y="147261"/>
                  </a:cubicBezTo>
                  <a:lnTo>
                    <a:pt x="54738" y="147261"/>
                  </a:lnTo>
                  <a:cubicBezTo>
                    <a:pt x="40221" y="147261"/>
                    <a:pt x="26298" y="141494"/>
                    <a:pt x="16032" y="131229"/>
                  </a:cubicBezTo>
                  <a:cubicBezTo>
                    <a:pt x="5767" y="120964"/>
                    <a:pt x="0" y="107041"/>
                    <a:pt x="0" y="92523"/>
                  </a:cubicBezTo>
                  <a:lnTo>
                    <a:pt x="0" y="54738"/>
                  </a:lnTo>
                  <a:cubicBezTo>
                    <a:pt x="0" y="40221"/>
                    <a:pt x="5767" y="26298"/>
                    <a:pt x="16032" y="16032"/>
                  </a:cubicBezTo>
                  <a:cubicBezTo>
                    <a:pt x="26298" y="5767"/>
                    <a:pt x="40221" y="0"/>
                    <a:pt x="547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68516" cy="204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www.reallygreatsite.com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644062"/>
            <a:ext cx="7354667" cy="344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7"/>
              </a:lnSpc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Lorem ipsum dolor sit amet, consectetur adipiscing sagittis elit. Quisque facilisis tincidunt risus sit amet sagittis. Praesent tempus vitae felis maximus pretium.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09711" y="1028700"/>
            <a:ext cx="8499426" cy="6947584"/>
            <a:chOff x="0" y="0"/>
            <a:chExt cx="2882035" cy="23558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82035" cy="2355827"/>
            </a:xfrm>
            <a:custGeom>
              <a:avLst/>
              <a:gdLst/>
              <a:ahLst/>
              <a:cxnLst/>
              <a:rect r="r" b="b" t="t" l="l"/>
              <a:pathLst>
                <a:path h="2355827" w="2882035">
                  <a:moveTo>
                    <a:pt x="12752" y="0"/>
                  </a:moveTo>
                  <a:lnTo>
                    <a:pt x="2869283" y="0"/>
                  </a:lnTo>
                  <a:cubicBezTo>
                    <a:pt x="2876326" y="0"/>
                    <a:pt x="2882035" y="5709"/>
                    <a:pt x="2882035" y="12752"/>
                  </a:cubicBezTo>
                  <a:lnTo>
                    <a:pt x="2882035" y="2343075"/>
                  </a:lnTo>
                  <a:cubicBezTo>
                    <a:pt x="2882035" y="2350118"/>
                    <a:pt x="2876326" y="2355827"/>
                    <a:pt x="2869283" y="2355827"/>
                  </a:cubicBezTo>
                  <a:lnTo>
                    <a:pt x="12752" y="2355827"/>
                  </a:lnTo>
                  <a:cubicBezTo>
                    <a:pt x="5709" y="2355827"/>
                    <a:pt x="0" y="2350118"/>
                    <a:pt x="0" y="2343075"/>
                  </a:cubicBezTo>
                  <a:lnTo>
                    <a:pt x="0" y="12752"/>
                  </a:lnTo>
                  <a:cubicBezTo>
                    <a:pt x="0" y="5709"/>
                    <a:pt x="5709" y="0"/>
                    <a:pt x="12752" y="0"/>
                  </a:cubicBezTo>
                  <a:close/>
                </a:path>
              </a:pathLst>
            </a:custGeom>
            <a:blipFill>
              <a:blip r:embed="rId3"/>
              <a:stretch>
                <a:fillRect l="-9665" t="0" r="-9665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719481" y="7147971"/>
            <a:ext cx="6727507" cy="2137960"/>
            <a:chOff x="0" y="0"/>
            <a:chExt cx="1637439" cy="520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37439" cy="520368"/>
            </a:xfrm>
            <a:custGeom>
              <a:avLst/>
              <a:gdLst/>
              <a:ahLst/>
              <a:cxnLst/>
              <a:rect r="r" b="b" t="t" l="l"/>
              <a:pathLst>
                <a:path h="520368" w="1637439">
                  <a:moveTo>
                    <a:pt x="16111" y="0"/>
                  </a:moveTo>
                  <a:lnTo>
                    <a:pt x="1621328" y="0"/>
                  </a:lnTo>
                  <a:cubicBezTo>
                    <a:pt x="1630226" y="0"/>
                    <a:pt x="1637439" y="7213"/>
                    <a:pt x="1637439" y="16111"/>
                  </a:cubicBezTo>
                  <a:lnTo>
                    <a:pt x="1637439" y="504257"/>
                  </a:lnTo>
                  <a:cubicBezTo>
                    <a:pt x="1637439" y="513155"/>
                    <a:pt x="1630226" y="520368"/>
                    <a:pt x="1621328" y="520368"/>
                  </a:cubicBezTo>
                  <a:lnTo>
                    <a:pt x="16111" y="520368"/>
                  </a:lnTo>
                  <a:cubicBezTo>
                    <a:pt x="7213" y="520368"/>
                    <a:pt x="0" y="513155"/>
                    <a:pt x="0" y="504257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637439" cy="59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941354" y="7447858"/>
            <a:ext cx="1539914" cy="1551196"/>
          </a:xfrm>
          <a:custGeom>
            <a:avLst/>
            <a:gdLst/>
            <a:ahLst/>
            <a:cxnLst/>
            <a:rect r="r" b="b" t="t" l="l"/>
            <a:pathLst>
              <a:path h="1551196" w="1539914">
                <a:moveTo>
                  <a:pt x="0" y="0"/>
                </a:moveTo>
                <a:lnTo>
                  <a:pt x="1539914" y="0"/>
                </a:lnTo>
                <a:lnTo>
                  <a:pt x="1539914" y="1551196"/>
                </a:lnTo>
                <a:lnTo>
                  <a:pt x="0" y="155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294408"/>
            <a:ext cx="8053372" cy="217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  <a:r>
              <a:rPr lang="en-US" sz="640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Robotics with Artificial Intelligence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37703" y="7390708"/>
            <a:ext cx="4120658" cy="154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45"/>
              </a:lnSpc>
            </a:pPr>
            <a:r>
              <a:rPr lang="en-US" sz="1746" spc="7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24901"/>
            <a:ext cx="9536271" cy="1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65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Our Team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15265"/>
            <a:ext cx="14061259" cy="89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8"/>
              </a:lnSpc>
            </a:pPr>
            <a:r>
              <a:rPr lang="en-US" sz="2484" spc="104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367077" y="4995702"/>
            <a:ext cx="3545220" cy="3545220"/>
            <a:chOff x="0" y="0"/>
            <a:chExt cx="14840029" cy="14840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223" t="-555" r="223" b="-49443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5142309" y="4995702"/>
            <a:ext cx="3545220" cy="3545220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t="-24999" r="223" b="-2499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9253468" y="4995702"/>
            <a:ext cx="3545220" cy="3545220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5"/>
              <a:stretch>
                <a:fillRect l="-24618" t="0" r="-24618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028700" y="4995702"/>
            <a:ext cx="3545220" cy="3545220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6"/>
              <a:stretch>
                <a:fillRect l="223" t="-6614" r="223" b="-433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599170" y="7999818"/>
            <a:ext cx="3081034" cy="630272"/>
            <a:chOff x="0" y="0"/>
            <a:chExt cx="719876" cy="1472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9876" cy="147261"/>
            </a:xfrm>
            <a:custGeom>
              <a:avLst/>
              <a:gdLst/>
              <a:ahLst/>
              <a:cxnLst/>
              <a:rect r="r" b="b" t="t" l="l"/>
              <a:pathLst>
                <a:path h="147261" w="719876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9519"/>
                  </a:lnTo>
                  <a:cubicBezTo>
                    <a:pt x="719876" y="112181"/>
                    <a:pt x="714846" y="124324"/>
                    <a:pt x="705893" y="133278"/>
                  </a:cubicBezTo>
                  <a:cubicBezTo>
                    <a:pt x="696939" y="142231"/>
                    <a:pt x="684796" y="147261"/>
                    <a:pt x="672134" y="147261"/>
                  </a:cubicBezTo>
                  <a:lnTo>
                    <a:pt x="47743" y="147261"/>
                  </a:lnTo>
                  <a:cubicBezTo>
                    <a:pt x="35080" y="147261"/>
                    <a:pt x="22937" y="142231"/>
                    <a:pt x="13983" y="133278"/>
                  </a:cubicBezTo>
                  <a:cubicBezTo>
                    <a:pt x="5030" y="124324"/>
                    <a:pt x="0" y="112181"/>
                    <a:pt x="0" y="99519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19876" cy="204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Drew Feig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74402" y="7999818"/>
            <a:ext cx="3081034" cy="630272"/>
            <a:chOff x="0" y="0"/>
            <a:chExt cx="719876" cy="1472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9876" cy="147261"/>
            </a:xfrm>
            <a:custGeom>
              <a:avLst/>
              <a:gdLst/>
              <a:ahLst/>
              <a:cxnLst/>
              <a:rect r="r" b="b" t="t" l="l"/>
              <a:pathLst>
                <a:path h="147261" w="719876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9519"/>
                  </a:lnTo>
                  <a:cubicBezTo>
                    <a:pt x="719876" y="112181"/>
                    <a:pt x="714846" y="124324"/>
                    <a:pt x="705893" y="133278"/>
                  </a:cubicBezTo>
                  <a:cubicBezTo>
                    <a:pt x="696939" y="142231"/>
                    <a:pt x="684796" y="147261"/>
                    <a:pt x="672134" y="147261"/>
                  </a:cubicBezTo>
                  <a:lnTo>
                    <a:pt x="47743" y="147261"/>
                  </a:lnTo>
                  <a:cubicBezTo>
                    <a:pt x="35080" y="147261"/>
                    <a:pt x="22937" y="142231"/>
                    <a:pt x="13983" y="133278"/>
                  </a:cubicBezTo>
                  <a:cubicBezTo>
                    <a:pt x="5030" y="124324"/>
                    <a:pt x="0" y="112181"/>
                    <a:pt x="0" y="99519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19876" cy="204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Alfredo Torres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85561" y="7999818"/>
            <a:ext cx="3081034" cy="630272"/>
            <a:chOff x="0" y="0"/>
            <a:chExt cx="719876" cy="1472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9876" cy="147261"/>
            </a:xfrm>
            <a:custGeom>
              <a:avLst/>
              <a:gdLst/>
              <a:ahLst/>
              <a:cxnLst/>
              <a:rect r="r" b="b" t="t" l="l"/>
              <a:pathLst>
                <a:path h="147261" w="719876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9519"/>
                  </a:lnTo>
                  <a:cubicBezTo>
                    <a:pt x="719876" y="112181"/>
                    <a:pt x="714846" y="124324"/>
                    <a:pt x="705893" y="133278"/>
                  </a:cubicBezTo>
                  <a:cubicBezTo>
                    <a:pt x="696939" y="142231"/>
                    <a:pt x="684796" y="147261"/>
                    <a:pt x="672134" y="147261"/>
                  </a:cubicBezTo>
                  <a:lnTo>
                    <a:pt x="47743" y="147261"/>
                  </a:lnTo>
                  <a:cubicBezTo>
                    <a:pt x="35080" y="147261"/>
                    <a:pt x="22937" y="142231"/>
                    <a:pt x="13983" y="133278"/>
                  </a:cubicBezTo>
                  <a:cubicBezTo>
                    <a:pt x="5030" y="124324"/>
                    <a:pt x="0" y="112181"/>
                    <a:pt x="0" y="99519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19876" cy="204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Dani Martinez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60793" y="7999818"/>
            <a:ext cx="3081034" cy="630272"/>
            <a:chOff x="0" y="0"/>
            <a:chExt cx="719876" cy="1472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876" cy="147261"/>
            </a:xfrm>
            <a:custGeom>
              <a:avLst/>
              <a:gdLst/>
              <a:ahLst/>
              <a:cxnLst/>
              <a:rect r="r" b="b" t="t" l="l"/>
              <a:pathLst>
                <a:path h="147261" w="719876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9519"/>
                  </a:lnTo>
                  <a:cubicBezTo>
                    <a:pt x="719876" y="112181"/>
                    <a:pt x="714846" y="124324"/>
                    <a:pt x="705893" y="133278"/>
                  </a:cubicBezTo>
                  <a:cubicBezTo>
                    <a:pt x="696939" y="142231"/>
                    <a:pt x="684796" y="147261"/>
                    <a:pt x="672134" y="147261"/>
                  </a:cubicBezTo>
                  <a:lnTo>
                    <a:pt x="47743" y="147261"/>
                  </a:lnTo>
                  <a:cubicBezTo>
                    <a:pt x="35080" y="147261"/>
                    <a:pt x="22937" y="142231"/>
                    <a:pt x="13983" y="133278"/>
                  </a:cubicBezTo>
                  <a:cubicBezTo>
                    <a:pt x="5030" y="124324"/>
                    <a:pt x="0" y="112181"/>
                    <a:pt x="0" y="99519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19876" cy="204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Aaron Loeb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85699" y="2207547"/>
            <a:ext cx="9536271" cy="1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65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5699" y="4073285"/>
            <a:ext cx="8053372" cy="119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sagittis elit. Quisque facilisis tincidunt risus sit amet sagittis. Praesent tempus vitae felis maximus pretium.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5699" y="3544009"/>
            <a:ext cx="8053372" cy="47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</a:pPr>
            <a:r>
              <a:rPr lang="en-US" sz="2619" spc="11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oost your 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su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ts with 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87669" y="5524309"/>
            <a:ext cx="3674329" cy="4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+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123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456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78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90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7669" y="6126291"/>
            <a:ext cx="4348660" cy="4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ell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@rea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lygre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site.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7669" y="6750092"/>
            <a:ext cx="3674329" cy="4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7"/>
              </a:lnSpc>
              <a:spcBef>
                <a:spcPct val="0"/>
              </a:spcBef>
            </a:pP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www.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eal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lygr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219" spc="9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ite.com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99126" y="6137421"/>
            <a:ext cx="500895" cy="500895"/>
          </a:xfrm>
          <a:custGeom>
            <a:avLst/>
            <a:gdLst/>
            <a:ahLst/>
            <a:cxnLst/>
            <a:rect r="r" b="b" t="t" l="l"/>
            <a:pathLst>
              <a:path h="500895" w="500895">
                <a:moveTo>
                  <a:pt x="0" y="0"/>
                </a:moveTo>
                <a:lnTo>
                  <a:pt x="500895" y="0"/>
                </a:lnTo>
                <a:lnTo>
                  <a:pt x="500895" y="500895"/>
                </a:lnTo>
                <a:lnTo>
                  <a:pt x="0" y="500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85699" y="6737695"/>
            <a:ext cx="547952" cy="547952"/>
          </a:xfrm>
          <a:custGeom>
            <a:avLst/>
            <a:gdLst/>
            <a:ahLst/>
            <a:cxnLst/>
            <a:rect r="r" b="b" t="t" l="l"/>
            <a:pathLst>
              <a:path h="547952" w="547952">
                <a:moveTo>
                  <a:pt x="0" y="0"/>
                </a:moveTo>
                <a:lnTo>
                  <a:pt x="547952" y="0"/>
                </a:lnTo>
                <a:lnTo>
                  <a:pt x="547952" y="547951"/>
                </a:lnTo>
                <a:lnTo>
                  <a:pt x="0" y="547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95709" y="5533731"/>
            <a:ext cx="504312" cy="504312"/>
          </a:xfrm>
          <a:custGeom>
            <a:avLst/>
            <a:gdLst/>
            <a:ahLst/>
            <a:cxnLst/>
            <a:rect r="r" b="b" t="t" l="l"/>
            <a:pathLst>
              <a:path h="504312" w="504312">
                <a:moveTo>
                  <a:pt x="0" y="0"/>
                </a:moveTo>
                <a:lnTo>
                  <a:pt x="504312" y="0"/>
                </a:lnTo>
                <a:lnTo>
                  <a:pt x="504312" y="504312"/>
                </a:lnTo>
                <a:lnTo>
                  <a:pt x="0" y="504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940065" y="1379932"/>
            <a:ext cx="7319235" cy="7319235"/>
            <a:chOff x="0" y="0"/>
            <a:chExt cx="8916670" cy="8916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9"/>
              <a:stretch>
                <a:fillRect l="-56842" t="0" r="0" b="-17489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  <a:moveTo>
                    <a:pt x="4451350" y="8764270"/>
                  </a:moveTo>
                  <a:cubicBezTo>
                    <a:pt x="2073910" y="8764270"/>
                    <a:pt x="139700" y="6830060"/>
                    <a:pt x="139700" y="4451350"/>
                  </a:cubicBezTo>
                  <a:cubicBezTo>
                    <a:pt x="139700" y="2072640"/>
                    <a:pt x="2073910" y="139700"/>
                    <a:pt x="4451350" y="139700"/>
                  </a:cubicBezTo>
                  <a:cubicBezTo>
                    <a:pt x="6828790" y="139700"/>
                    <a:pt x="8764270" y="2073910"/>
                    <a:pt x="8764270" y="4451350"/>
                  </a:cubicBezTo>
                  <a:cubicBezTo>
                    <a:pt x="8764270" y="6828790"/>
                    <a:pt x="6830060" y="8764270"/>
                    <a:pt x="4451350" y="8764270"/>
                  </a:cubicBezTo>
                  <a:close/>
                  <a:moveTo>
                    <a:pt x="4451350" y="158750"/>
                  </a:moveTo>
                  <a:cubicBezTo>
                    <a:pt x="2084070" y="158750"/>
                    <a:pt x="158750" y="2084070"/>
                    <a:pt x="158750" y="4451350"/>
                  </a:cubicBezTo>
                  <a:cubicBezTo>
                    <a:pt x="158750" y="6818630"/>
                    <a:pt x="2084070" y="8743950"/>
                    <a:pt x="4451350" y="8743950"/>
                  </a:cubicBezTo>
                  <a:cubicBezTo>
                    <a:pt x="6818630" y="8743950"/>
                    <a:pt x="8743950" y="6818630"/>
                    <a:pt x="8743950" y="4451350"/>
                  </a:cubicBezTo>
                  <a:cubicBezTo>
                    <a:pt x="8743950" y="2084070"/>
                    <a:pt x="6819900" y="158750"/>
                    <a:pt x="4451350" y="1587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30888" y="7186920"/>
            <a:ext cx="603515" cy="993812"/>
          </a:xfrm>
          <a:custGeom>
            <a:avLst/>
            <a:gdLst/>
            <a:ahLst/>
            <a:cxnLst/>
            <a:rect r="r" b="b" t="t" l="l"/>
            <a:pathLst>
              <a:path h="993812" w="603515">
                <a:moveTo>
                  <a:pt x="0" y="0"/>
                </a:moveTo>
                <a:lnTo>
                  <a:pt x="603515" y="0"/>
                </a:lnTo>
                <a:lnTo>
                  <a:pt x="603515" y="993812"/>
                </a:lnTo>
                <a:lnTo>
                  <a:pt x="0" y="99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805097" y="6133658"/>
            <a:ext cx="846461" cy="763354"/>
          </a:xfrm>
          <a:custGeom>
            <a:avLst/>
            <a:gdLst/>
            <a:ahLst/>
            <a:cxnLst/>
            <a:rect r="r" b="b" t="t" l="l"/>
            <a:pathLst>
              <a:path h="763354" w="846461">
                <a:moveTo>
                  <a:pt x="0" y="0"/>
                </a:moveTo>
                <a:lnTo>
                  <a:pt x="846461" y="0"/>
                </a:lnTo>
                <a:lnTo>
                  <a:pt x="846461" y="763353"/>
                </a:lnTo>
                <a:lnTo>
                  <a:pt x="0" y="763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909415" y="4928690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909415" y="3703979"/>
            <a:ext cx="846461" cy="784900"/>
          </a:xfrm>
          <a:custGeom>
            <a:avLst/>
            <a:gdLst/>
            <a:ahLst/>
            <a:cxnLst/>
            <a:rect r="r" b="b" t="t" l="l"/>
            <a:pathLst>
              <a:path h="784900" w="846461">
                <a:moveTo>
                  <a:pt x="0" y="0"/>
                </a:moveTo>
                <a:lnTo>
                  <a:pt x="846461" y="0"/>
                </a:lnTo>
                <a:lnTo>
                  <a:pt x="846461" y="784900"/>
                </a:lnTo>
                <a:lnTo>
                  <a:pt x="0" y="784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607054" y="7213665"/>
            <a:ext cx="705806" cy="888314"/>
          </a:xfrm>
          <a:custGeom>
            <a:avLst/>
            <a:gdLst/>
            <a:ahLst/>
            <a:cxnLst/>
            <a:rect r="r" b="b" t="t" l="l"/>
            <a:pathLst>
              <a:path h="888314" w="705806">
                <a:moveTo>
                  <a:pt x="0" y="0"/>
                </a:moveTo>
                <a:lnTo>
                  <a:pt x="705806" y="0"/>
                </a:lnTo>
                <a:lnTo>
                  <a:pt x="705806" y="888314"/>
                </a:lnTo>
                <a:lnTo>
                  <a:pt x="0" y="8883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636442" y="6092104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607054" y="4970244"/>
            <a:ext cx="846461" cy="841843"/>
          </a:xfrm>
          <a:custGeom>
            <a:avLst/>
            <a:gdLst/>
            <a:ahLst/>
            <a:cxnLst/>
            <a:rect r="r" b="b" t="t" l="l"/>
            <a:pathLst>
              <a:path h="841843" w="846461">
                <a:moveTo>
                  <a:pt x="0" y="0"/>
                </a:moveTo>
                <a:lnTo>
                  <a:pt x="846460" y="0"/>
                </a:lnTo>
                <a:lnTo>
                  <a:pt x="846460" y="841843"/>
                </a:lnTo>
                <a:lnTo>
                  <a:pt x="0" y="8418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636442" y="3714752"/>
            <a:ext cx="846461" cy="881730"/>
          </a:xfrm>
          <a:custGeom>
            <a:avLst/>
            <a:gdLst/>
            <a:ahLst/>
            <a:cxnLst/>
            <a:rect r="r" b="b" t="t" l="l"/>
            <a:pathLst>
              <a:path h="881730" w="846461">
                <a:moveTo>
                  <a:pt x="0" y="0"/>
                </a:moveTo>
                <a:lnTo>
                  <a:pt x="846461" y="0"/>
                </a:lnTo>
                <a:lnTo>
                  <a:pt x="846461" y="881730"/>
                </a:lnTo>
                <a:lnTo>
                  <a:pt x="0" y="8817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027114" y="7197114"/>
            <a:ext cx="846461" cy="927397"/>
          </a:xfrm>
          <a:custGeom>
            <a:avLst/>
            <a:gdLst/>
            <a:ahLst/>
            <a:cxnLst/>
            <a:rect r="r" b="b" t="t" l="l"/>
            <a:pathLst>
              <a:path h="927397" w="846461">
                <a:moveTo>
                  <a:pt x="0" y="0"/>
                </a:moveTo>
                <a:lnTo>
                  <a:pt x="846461" y="0"/>
                </a:lnTo>
                <a:lnTo>
                  <a:pt x="846461" y="927397"/>
                </a:lnTo>
                <a:lnTo>
                  <a:pt x="0" y="9273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021884" y="5953273"/>
            <a:ext cx="792067" cy="961671"/>
          </a:xfrm>
          <a:custGeom>
            <a:avLst/>
            <a:gdLst/>
            <a:ahLst/>
            <a:cxnLst/>
            <a:rect r="r" b="b" t="t" l="l"/>
            <a:pathLst>
              <a:path h="961671" w="792067">
                <a:moveTo>
                  <a:pt x="0" y="0"/>
                </a:moveTo>
                <a:lnTo>
                  <a:pt x="792067" y="0"/>
                </a:lnTo>
                <a:lnTo>
                  <a:pt x="792067" y="961671"/>
                </a:lnTo>
                <a:lnTo>
                  <a:pt x="0" y="961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273282" y="4884827"/>
            <a:ext cx="540670" cy="890324"/>
          </a:xfrm>
          <a:custGeom>
            <a:avLst/>
            <a:gdLst/>
            <a:ahLst/>
            <a:cxnLst/>
            <a:rect r="r" b="b" t="t" l="l"/>
            <a:pathLst>
              <a:path h="890324" w="540670">
                <a:moveTo>
                  <a:pt x="0" y="0"/>
                </a:moveTo>
                <a:lnTo>
                  <a:pt x="540669" y="0"/>
                </a:lnTo>
                <a:lnTo>
                  <a:pt x="540669" y="890324"/>
                </a:lnTo>
                <a:lnTo>
                  <a:pt x="0" y="89032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4126202" y="3673199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3557205" y="3673199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231431" y="3673199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1014644" y="3714752"/>
            <a:ext cx="846461" cy="763354"/>
          </a:xfrm>
          <a:custGeom>
            <a:avLst/>
            <a:gdLst/>
            <a:ahLst/>
            <a:cxnLst/>
            <a:rect r="r" b="b" t="t" l="l"/>
            <a:pathLst>
              <a:path h="763354" w="846461">
                <a:moveTo>
                  <a:pt x="0" y="0"/>
                </a:moveTo>
                <a:lnTo>
                  <a:pt x="846461" y="0"/>
                </a:lnTo>
                <a:lnTo>
                  <a:pt x="846461" y="763354"/>
                </a:lnTo>
                <a:lnTo>
                  <a:pt x="0" y="76335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9797857" y="3670098"/>
            <a:ext cx="846461" cy="852662"/>
          </a:xfrm>
          <a:custGeom>
            <a:avLst/>
            <a:gdLst/>
            <a:ahLst/>
            <a:cxnLst/>
            <a:rect r="r" b="b" t="t" l="l"/>
            <a:pathLst>
              <a:path h="852662" w="846461">
                <a:moveTo>
                  <a:pt x="0" y="0"/>
                </a:moveTo>
                <a:lnTo>
                  <a:pt x="846461" y="0"/>
                </a:lnTo>
                <a:lnTo>
                  <a:pt x="846461" y="852662"/>
                </a:lnTo>
                <a:lnTo>
                  <a:pt x="0" y="852662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581070" y="3673199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501833" y="3673199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6421981" y="3764770"/>
            <a:ext cx="846461" cy="663317"/>
          </a:xfrm>
          <a:custGeom>
            <a:avLst/>
            <a:gdLst/>
            <a:ahLst/>
            <a:cxnLst/>
            <a:rect r="r" b="b" t="t" l="l"/>
            <a:pathLst>
              <a:path h="663317" w="846461">
                <a:moveTo>
                  <a:pt x="0" y="0"/>
                </a:moveTo>
                <a:lnTo>
                  <a:pt x="846461" y="0"/>
                </a:lnTo>
                <a:lnTo>
                  <a:pt x="846461" y="663318"/>
                </a:lnTo>
                <a:lnTo>
                  <a:pt x="0" y="66331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5205439" y="3673199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3448218" y="4928690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2231431" y="4928690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1014644" y="4928690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797857" y="4928690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8581070" y="4952545"/>
            <a:ext cx="846461" cy="798751"/>
          </a:xfrm>
          <a:custGeom>
            <a:avLst/>
            <a:gdLst/>
            <a:ahLst/>
            <a:cxnLst/>
            <a:rect r="r" b="b" t="t" l="l"/>
            <a:pathLst>
              <a:path h="798751" w="846461">
                <a:moveTo>
                  <a:pt x="0" y="0"/>
                </a:moveTo>
                <a:lnTo>
                  <a:pt x="846461" y="0"/>
                </a:lnTo>
                <a:lnTo>
                  <a:pt x="846461" y="798751"/>
                </a:lnTo>
                <a:lnTo>
                  <a:pt x="0" y="798751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7501833" y="4928690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6421981" y="4928690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5205439" y="4970244"/>
            <a:ext cx="846461" cy="763354"/>
          </a:xfrm>
          <a:custGeom>
            <a:avLst/>
            <a:gdLst/>
            <a:ahLst/>
            <a:cxnLst/>
            <a:rect r="r" b="b" t="t" l="l"/>
            <a:pathLst>
              <a:path h="763354" w="846461">
                <a:moveTo>
                  <a:pt x="0" y="0"/>
                </a:moveTo>
                <a:lnTo>
                  <a:pt x="846461" y="0"/>
                </a:lnTo>
                <a:lnTo>
                  <a:pt x="846461" y="763353"/>
                </a:lnTo>
                <a:lnTo>
                  <a:pt x="0" y="763353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3464332" y="6060285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0" y="0"/>
                </a:lnTo>
                <a:lnTo>
                  <a:pt x="846460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2231431" y="6060285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1014644" y="6060285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9797857" y="6079523"/>
            <a:ext cx="846461" cy="807985"/>
          </a:xfrm>
          <a:custGeom>
            <a:avLst/>
            <a:gdLst/>
            <a:ahLst/>
            <a:cxnLst/>
            <a:rect r="r" b="b" t="t" l="l"/>
            <a:pathLst>
              <a:path h="807985" w="846461">
                <a:moveTo>
                  <a:pt x="0" y="0"/>
                </a:moveTo>
                <a:lnTo>
                  <a:pt x="846461" y="0"/>
                </a:lnTo>
                <a:lnTo>
                  <a:pt x="846461" y="807985"/>
                </a:lnTo>
                <a:lnTo>
                  <a:pt x="0" y="807985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8581070" y="6060285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501833" y="6060285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6421981" y="5953273"/>
            <a:ext cx="846461" cy="1060486"/>
          </a:xfrm>
          <a:custGeom>
            <a:avLst/>
            <a:gdLst/>
            <a:ahLst/>
            <a:cxnLst/>
            <a:rect r="r" b="b" t="t" l="l"/>
            <a:pathLst>
              <a:path h="1060486" w="846461">
                <a:moveTo>
                  <a:pt x="0" y="0"/>
                </a:moveTo>
                <a:lnTo>
                  <a:pt x="846461" y="0"/>
                </a:lnTo>
                <a:lnTo>
                  <a:pt x="846461" y="1060486"/>
                </a:lnTo>
                <a:lnTo>
                  <a:pt x="0" y="1060486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5205439" y="6060285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1"/>
                </a:lnTo>
                <a:lnTo>
                  <a:pt x="0" y="846461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3448218" y="7186920"/>
            <a:ext cx="663834" cy="915059"/>
          </a:xfrm>
          <a:custGeom>
            <a:avLst/>
            <a:gdLst/>
            <a:ahLst/>
            <a:cxnLst/>
            <a:rect r="r" b="b" t="t" l="l"/>
            <a:pathLst>
              <a:path h="915059" w="663834">
                <a:moveTo>
                  <a:pt x="0" y="0"/>
                </a:moveTo>
                <a:lnTo>
                  <a:pt x="663834" y="0"/>
                </a:lnTo>
                <a:lnTo>
                  <a:pt x="663834" y="915059"/>
                </a:lnTo>
                <a:lnTo>
                  <a:pt x="0" y="915059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2231431" y="7194806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1014644" y="7194806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9797857" y="7194806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8581070" y="7134093"/>
            <a:ext cx="846461" cy="967886"/>
          </a:xfrm>
          <a:custGeom>
            <a:avLst/>
            <a:gdLst/>
            <a:ahLst/>
            <a:cxnLst/>
            <a:rect r="r" b="b" t="t" l="l"/>
            <a:pathLst>
              <a:path h="967886" w="846461">
                <a:moveTo>
                  <a:pt x="0" y="0"/>
                </a:moveTo>
                <a:lnTo>
                  <a:pt x="846461" y="0"/>
                </a:lnTo>
                <a:lnTo>
                  <a:pt x="846461" y="967886"/>
                </a:lnTo>
                <a:lnTo>
                  <a:pt x="0" y="967886"/>
                </a:lnTo>
                <a:lnTo>
                  <a:pt x="0" y="0"/>
                </a:lnTo>
                <a:close/>
              </a:path>
            </a:pathLst>
          </a:custGeom>
          <a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7501833" y="7194806"/>
            <a:ext cx="846461" cy="846461"/>
          </a:xfrm>
          <a:custGeom>
            <a:avLst/>
            <a:gdLst/>
            <a:ahLst/>
            <a:cxnLst/>
            <a:rect r="r" b="b" t="t" l="l"/>
            <a:pathLst>
              <a:path h="846461" w="846461">
                <a:moveTo>
                  <a:pt x="0" y="0"/>
                </a:moveTo>
                <a:lnTo>
                  <a:pt x="846461" y="0"/>
                </a:lnTo>
                <a:lnTo>
                  <a:pt x="846461" y="846460"/>
                </a:lnTo>
                <a:lnTo>
                  <a:pt x="0" y="846460"/>
                </a:lnTo>
                <a:lnTo>
                  <a:pt x="0" y="0"/>
                </a:lnTo>
                <a:close/>
              </a:path>
            </a:pathLst>
          </a:custGeom>
          <a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6421981" y="7158910"/>
            <a:ext cx="846461" cy="918251"/>
          </a:xfrm>
          <a:custGeom>
            <a:avLst/>
            <a:gdLst/>
            <a:ahLst/>
            <a:cxnLst/>
            <a:rect r="r" b="b" t="t" l="l"/>
            <a:pathLst>
              <a:path h="918251" w="846461">
                <a:moveTo>
                  <a:pt x="0" y="0"/>
                </a:moveTo>
                <a:lnTo>
                  <a:pt x="846461" y="0"/>
                </a:lnTo>
                <a:lnTo>
                  <a:pt x="846461" y="918252"/>
                </a:lnTo>
                <a:lnTo>
                  <a:pt x="0" y="918252"/>
                </a:lnTo>
                <a:lnTo>
                  <a:pt x="0" y="0"/>
                </a:lnTo>
                <a:close/>
              </a:path>
            </a:pathLst>
          </a:custGeom>
          <a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5205439" y="7197114"/>
            <a:ext cx="846461" cy="841843"/>
          </a:xfrm>
          <a:custGeom>
            <a:avLst/>
            <a:gdLst/>
            <a:ahLst/>
            <a:cxnLst/>
            <a:rect r="r" b="b" t="t" l="l"/>
            <a:pathLst>
              <a:path h="841843" w="846461">
                <a:moveTo>
                  <a:pt x="0" y="0"/>
                </a:moveTo>
                <a:lnTo>
                  <a:pt x="846461" y="0"/>
                </a:lnTo>
                <a:lnTo>
                  <a:pt x="846461" y="841844"/>
                </a:lnTo>
                <a:lnTo>
                  <a:pt x="0" y="841844"/>
                </a:lnTo>
                <a:lnTo>
                  <a:pt x="0" y="0"/>
                </a:lnTo>
                <a:close/>
              </a:path>
            </a:pathLst>
          </a:custGeom>
          <a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7" id="47"/>
          <p:cNvSpPr txBox="true"/>
          <p:nvPr/>
        </p:nvSpPr>
        <p:spPr>
          <a:xfrm rot="0">
            <a:off x="5087723" y="1984740"/>
            <a:ext cx="8112555" cy="126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9"/>
              </a:lnSpc>
            </a:pPr>
            <a:r>
              <a:rPr lang="en-US" sz="736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Resource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DAG2Yr9h_FE</dc:identifier>
  <dcterms:modified xsi:type="dcterms:W3CDTF">2011-08-01T06:04:30Z</dcterms:modified>
  <cp:revision>1</cp:revision>
  <dc:title>Báo cáo khoa học</dc:title>
</cp:coreProperties>
</file>